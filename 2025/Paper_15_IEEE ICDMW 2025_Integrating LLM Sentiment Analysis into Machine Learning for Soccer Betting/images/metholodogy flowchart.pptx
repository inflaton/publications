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Lst>
  <p:notesMasterIdLst>
    <p:notesMasterId r:id="rId4"/>
  </p:notesMasterIdLst>
  <p:sldIdLst>
    <p:sldId id="257" r:id="rId2"/>
    <p:sldId id="256" r:id="rId3"/>
  </p:sldIdLst>
  <p:sldSz cx="3600450" cy="424815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E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982" autoAdjust="0"/>
    <p:restoredTop sz="76709" autoAdjust="0"/>
  </p:normalViewPr>
  <p:slideViewPr>
    <p:cSldViewPr snapToGrid="0">
      <p:cViewPr varScale="1">
        <p:scale>
          <a:sx n="152" d="100"/>
          <a:sy n="152" d="100"/>
        </p:scale>
        <p:origin x="3648"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09B757-AC46-4A9E-ADCA-B7D62D2AC350}" type="datetimeFigureOut">
              <a:rPr lang="en-US" smtClean="0"/>
              <a:t>6/3/25</a:t>
            </a:fld>
            <a:endParaRPr lang="en-US"/>
          </a:p>
        </p:txBody>
      </p:sp>
      <p:sp>
        <p:nvSpPr>
          <p:cNvPr id="4" name="Slide Image Placeholder 3"/>
          <p:cNvSpPr>
            <a:spLocks noGrp="1" noRot="1" noChangeAspect="1"/>
          </p:cNvSpPr>
          <p:nvPr>
            <p:ph type="sldImg" idx="2"/>
          </p:nvPr>
        </p:nvSpPr>
        <p:spPr>
          <a:xfrm>
            <a:off x="2120900" y="1143000"/>
            <a:ext cx="26162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66434E-8B3F-4F22-9FFA-EF805988779E}" type="slidenum">
              <a:rPr lang="en-US" smtClean="0"/>
              <a:t>‹#›</a:t>
            </a:fld>
            <a:endParaRPr lang="en-US"/>
          </a:p>
        </p:txBody>
      </p:sp>
    </p:spTree>
    <p:extLst>
      <p:ext uri="{BB962C8B-B14F-4D97-AF65-F5344CB8AC3E}">
        <p14:creationId xmlns:p14="http://schemas.microsoft.com/office/powerpoint/2010/main" val="18452332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 1. Detailed Methodology Flowchart of the Proposed LLM-Enhanced Soccer Betting Method</a:t>
            </a:r>
          </a:p>
          <a:p>
            <a:r>
              <a:rPr lang="en-US" dirty="0"/>
              <a:t>The flowchart illustrates the comprehensive pipeline integrating LLM-based sentiment analysis with traditional machine learning models for soccer betting predictions. The process begins with the collection of soccer match statistics from API-Football and BBC Sports commentaries in Block (a) Data Collection. </a:t>
            </a:r>
          </a:p>
          <a:p>
            <a:endParaRPr lang="en-US" dirty="0"/>
          </a:p>
          <a:p>
            <a:r>
              <a:rPr lang="en-US" dirty="0"/>
              <a:t>In Block (b) LLM Sentiment Analysis, the sentiment analysis component uses the </a:t>
            </a:r>
            <a:r>
              <a:rPr lang="en-US" dirty="0" err="1"/>
              <a:t>DeepSeek-R1</a:t>
            </a:r>
            <a:r>
              <a:rPr lang="en-US" dirty="0"/>
              <a:t>, </a:t>
            </a:r>
            <a:r>
              <a:rPr lang="en-US" dirty="0" err="1"/>
              <a:t>GPT</a:t>
            </a:r>
            <a:r>
              <a:rPr lang="en-US" dirty="0"/>
              <a:t>-</a:t>
            </a:r>
            <a:r>
              <a:rPr lang="en-US" dirty="0" err="1"/>
              <a:t>4o</a:t>
            </a:r>
            <a:r>
              <a:rPr lang="en-US" dirty="0"/>
              <a:t>-mini, and </a:t>
            </a:r>
            <a:r>
              <a:rPr lang="en-US" dirty="0" err="1"/>
              <a:t>Qwen2.5</a:t>
            </a:r>
            <a:r>
              <a:rPr lang="en-US" dirty="0"/>
              <a:t>-Plus models to extract team sentiment ratings (on a 1–5 scale) from match commentaries. Sentiment features are generated by computing the difference between the home and away team ratings. </a:t>
            </a:r>
          </a:p>
          <a:p>
            <a:endParaRPr lang="en-US" dirty="0"/>
          </a:p>
          <a:p>
            <a:r>
              <a:rPr lang="en-US" dirty="0"/>
              <a:t>These sentiment features are then combined with preprocessed statistical features (home minus away team statistics) during the Feature Engineering step in Block (c) Machine Learning Models &amp; Learning Pipeline. In the same block, hyperparameter tuning is conducted using grid search and 5-fold cross-validation to identify optimal parameters for training four models: Logistic Regression, Support Vector Classifier (SVC), Random Forest, and </a:t>
            </a:r>
            <a:r>
              <a:rPr lang="en-US" dirty="0" err="1"/>
              <a:t>XGBoost</a:t>
            </a:r>
            <a:r>
              <a:rPr lang="en-US" dirty="0"/>
              <a:t>.</a:t>
            </a:r>
          </a:p>
          <a:p>
            <a:endParaRPr lang="en-US" dirty="0"/>
          </a:p>
          <a:p>
            <a:r>
              <a:rPr lang="en-US" dirty="0"/>
              <a:t>Finally, in Block (d) Betting Simulation, the trained model is evaluated through betting simulations, starting with a $10,000 bankroll. Bets are placed only when positive expected value (EV) conditions are met.</a:t>
            </a:r>
          </a:p>
        </p:txBody>
      </p:sp>
      <p:sp>
        <p:nvSpPr>
          <p:cNvPr id="4" name="Slide Number Placeholder 3"/>
          <p:cNvSpPr>
            <a:spLocks noGrp="1"/>
          </p:cNvSpPr>
          <p:nvPr>
            <p:ph type="sldNum" sz="quarter" idx="5"/>
          </p:nvPr>
        </p:nvSpPr>
        <p:spPr/>
        <p:txBody>
          <a:bodyPr/>
          <a:lstStyle/>
          <a:p>
            <a:fld id="{9E66434E-8B3F-4F22-9FFA-EF805988779E}" type="slidenum">
              <a:rPr lang="en-US" smtClean="0"/>
              <a:t>1</a:t>
            </a:fld>
            <a:endParaRPr lang="en-US"/>
          </a:p>
        </p:txBody>
      </p:sp>
    </p:spTree>
    <p:extLst>
      <p:ext uri="{BB962C8B-B14F-4D97-AF65-F5344CB8AC3E}">
        <p14:creationId xmlns:p14="http://schemas.microsoft.com/office/powerpoint/2010/main" val="5533268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70034" y="695241"/>
            <a:ext cx="3060383" cy="1478986"/>
          </a:xfrm>
        </p:spPr>
        <p:txBody>
          <a:bodyPr anchor="b"/>
          <a:lstStyle>
            <a:lvl1pPr algn="ctr">
              <a:defRPr sz="2363"/>
            </a:lvl1pPr>
          </a:lstStyle>
          <a:p>
            <a:r>
              <a:rPr lang="en-US"/>
              <a:t>Click to edit Master title style</a:t>
            </a:r>
            <a:endParaRPr lang="en-US" dirty="0"/>
          </a:p>
        </p:txBody>
      </p:sp>
      <p:sp>
        <p:nvSpPr>
          <p:cNvPr id="3" name="Subtitle 2"/>
          <p:cNvSpPr>
            <a:spLocks noGrp="1"/>
          </p:cNvSpPr>
          <p:nvPr>
            <p:ph type="subTitle" idx="1"/>
          </p:nvPr>
        </p:nvSpPr>
        <p:spPr>
          <a:xfrm>
            <a:off x="450056" y="2231262"/>
            <a:ext cx="2700338" cy="1025653"/>
          </a:xfrm>
        </p:spPr>
        <p:txBody>
          <a:bodyPr/>
          <a:lstStyle>
            <a:lvl1pPr marL="0" indent="0" algn="ctr">
              <a:buNone/>
              <a:defRPr sz="945"/>
            </a:lvl1pPr>
            <a:lvl2pPr marL="180045" indent="0" algn="ctr">
              <a:buNone/>
              <a:defRPr sz="788"/>
            </a:lvl2pPr>
            <a:lvl3pPr marL="360091" indent="0" algn="ctr">
              <a:buNone/>
              <a:defRPr sz="709"/>
            </a:lvl3pPr>
            <a:lvl4pPr marL="540136" indent="0" algn="ctr">
              <a:buNone/>
              <a:defRPr sz="630"/>
            </a:lvl4pPr>
            <a:lvl5pPr marL="720181" indent="0" algn="ctr">
              <a:buNone/>
              <a:defRPr sz="630"/>
            </a:lvl5pPr>
            <a:lvl6pPr marL="900227" indent="0" algn="ctr">
              <a:buNone/>
              <a:defRPr sz="630"/>
            </a:lvl6pPr>
            <a:lvl7pPr marL="1080272" indent="0" algn="ctr">
              <a:buNone/>
              <a:defRPr sz="630"/>
            </a:lvl7pPr>
            <a:lvl8pPr marL="1260318" indent="0" algn="ctr">
              <a:buNone/>
              <a:defRPr sz="630"/>
            </a:lvl8pPr>
            <a:lvl9pPr marL="1440363" indent="0" algn="ctr">
              <a:buNone/>
              <a:defRPr sz="63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E741051-D69C-4F55-8AB4-3E5D03DFE334}" type="datetimeFigureOut">
              <a:rPr lang="en-SG" smtClean="0"/>
              <a:t>3/6/25</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A940806C-7B5B-4E50-9BC8-44B8B3CEBC6A}" type="slidenum">
              <a:rPr lang="en-SG" smtClean="0"/>
              <a:t>‹#›</a:t>
            </a:fld>
            <a:endParaRPr lang="en-SG"/>
          </a:p>
        </p:txBody>
      </p:sp>
    </p:spTree>
    <p:extLst>
      <p:ext uri="{BB962C8B-B14F-4D97-AF65-F5344CB8AC3E}">
        <p14:creationId xmlns:p14="http://schemas.microsoft.com/office/powerpoint/2010/main" val="22298030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E741051-D69C-4F55-8AB4-3E5D03DFE334}" type="datetimeFigureOut">
              <a:rPr lang="en-SG" smtClean="0"/>
              <a:t>3/6/25</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A940806C-7B5B-4E50-9BC8-44B8B3CEBC6A}" type="slidenum">
              <a:rPr lang="en-SG" smtClean="0"/>
              <a:t>‹#›</a:t>
            </a:fld>
            <a:endParaRPr lang="en-SG"/>
          </a:p>
        </p:txBody>
      </p:sp>
    </p:spTree>
    <p:extLst>
      <p:ext uri="{BB962C8B-B14F-4D97-AF65-F5344CB8AC3E}">
        <p14:creationId xmlns:p14="http://schemas.microsoft.com/office/powerpoint/2010/main" val="22469986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45656" y="1059089"/>
            <a:ext cx="3105388" cy="1767112"/>
          </a:xfrm>
        </p:spPr>
        <p:txBody>
          <a:bodyPr anchor="b"/>
          <a:lstStyle>
            <a:lvl1pPr>
              <a:defRPr sz="2363"/>
            </a:lvl1pPr>
          </a:lstStyle>
          <a:p>
            <a:r>
              <a:rPr lang="en-US"/>
              <a:t>Click to edit Master title style</a:t>
            </a:r>
            <a:endParaRPr lang="en-US" dirty="0"/>
          </a:p>
        </p:txBody>
      </p:sp>
      <p:sp>
        <p:nvSpPr>
          <p:cNvPr id="3" name="Text Placeholder 2"/>
          <p:cNvSpPr>
            <a:spLocks noGrp="1"/>
          </p:cNvSpPr>
          <p:nvPr>
            <p:ph type="body" idx="1"/>
          </p:nvPr>
        </p:nvSpPr>
        <p:spPr>
          <a:xfrm>
            <a:off x="245656" y="2842918"/>
            <a:ext cx="3105388" cy="929283"/>
          </a:xfrm>
        </p:spPr>
        <p:txBody>
          <a:bodyPr/>
          <a:lstStyle>
            <a:lvl1pPr marL="0" indent="0">
              <a:buNone/>
              <a:defRPr sz="945">
                <a:solidFill>
                  <a:schemeClr val="tx1">
                    <a:tint val="82000"/>
                  </a:schemeClr>
                </a:solidFill>
              </a:defRPr>
            </a:lvl1pPr>
            <a:lvl2pPr marL="180045" indent="0">
              <a:buNone/>
              <a:defRPr sz="788">
                <a:solidFill>
                  <a:schemeClr val="tx1">
                    <a:tint val="82000"/>
                  </a:schemeClr>
                </a:solidFill>
              </a:defRPr>
            </a:lvl2pPr>
            <a:lvl3pPr marL="360091" indent="0">
              <a:buNone/>
              <a:defRPr sz="709">
                <a:solidFill>
                  <a:schemeClr val="tx1">
                    <a:tint val="82000"/>
                  </a:schemeClr>
                </a:solidFill>
              </a:defRPr>
            </a:lvl3pPr>
            <a:lvl4pPr marL="540136" indent="0">
              <a:buNone/>
              <a:defRPr sz="630">
                <a:solidFill>
                  <a:schemeClr val="tx1">
                    <a:tint val="82000"/>
                  </a:schemeClr>
                </a:solidFill>
              </a:defRPr>
            </a:lvl4pPr>
            <a:lvl5pPr marL="720181" indent="0">
              <a:buNone/>
              <a:defRPr sz="630">
                <a:solidFill>
                  <a:schemeClr val="tx1">
                    <a:tint val="82000"/>
                  </a:schemeClr>
                </a:solidFill>
              </a:defRPr>
            </a:lvl5pPr>
            <a:lvl6pPr marL="900227" indent="0">
              <a:buNone/>
              <a:defRPr sz="630">
                <a:solidFill>
                  <a:schemeClr val="tx1">
                    <a:tint val="82000"/>
                  </a:schemeClr>
                </a:solidFill>
              </a:defRPr>
            </a:lvl6pPr>
            <a:lvl7pPr marL="1080272" indent="0">
              <a:buNone/>
              <a:defRPr sz="630">
                <a:solidFill>
                  <a:schemeClr val="tx1">
                    <a:tint val="82000"/>
                  </a:schemeClr>
                </a:solidFill>
              </a:defRPr>
            </a:lvl7pPr>
            <a:lvl8pPr marL="1260318" indent="0">
              <a:buNone/>
              <a:defRPr sz="630">
                <a:solidFill>
                  <a:schemeClr val="tx1">
                    <a:tint val="82000"/>
                  </a:schemeClr>
                </a:solidFill>
              </a:defRPr>
            </a:lvl8pPr>
            <a:lvl9pPr marL="1440363" indent="0">
              <a:buNone/>
              <a:defRPr sz="63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E741051-D69C-4F55-8AB4-3E5D03DFE334}" type="datetimeFigureOut">
              <a:rPr lang="en-SG" smtClean="0"/>
              <a:t>3/6/25</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A940806C-7B5B-4E50-9BC8-44B8B3CEBC6A}" type="slidenum">
              <a:rPr lang="en-SG" smtClean="0"/>
              <a:t>‹#›</a:t>
            </a:fld>
            <a:endParaRPr lang="en-SG"/>
          </a:p>
        </p:txBody>
      </p:sp>
    </p:spTree>
    <p:extLst>
      <p:ext uri="{BB962C8B-B14F-4D97-AF65-F5344CB8AC3E}">
        <p14:creationId xmlns:p14="http://schemas.microsoft.com/office/powerpoint/2010/main" val="10258661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47531" y="1130873"/>
            <a:ext cx="1530191" cy="2695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822728" y="1130873"/>
            <a:ext cx="1530191" cy="2695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E741051-D69C-4F55-8AB4-3E5D03DFE334}" type="datetimeFigureOut">
              <a:rPr lang="en-SG" smtClean="0"/>
              <a:t>3/6/25</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A940806C-7B5B-4E50-9BC8-44B8B3CEBC6A}" type="slidenum">
              <a:rPr lang="en-SG" smtClean="0"/>
              <a:t>‹#›</a:t>
            </a:fld>
            <a:endParaRPr lang="en-SG"/>
          </a:p>
        </p:txBody>
      </p:sp>
    </p:spTree>
    <p:extLst>
      <p:ext uri="{BB962C8B-B14F-4D97-AF65-F5344CB8AC3E}">
        <p14:creationId xmlns:p14="http://schemas.microsoft.com/office/powerpoint/2010/main" val="16852087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48000" y="226175"/>
            <a:ext cx="3105388" cy="821113"/>
          </a:xfrm>
        </p:spPr>
        <p:txBody>
          <a:bodyPr/>
          <a:lstStyle/>
          <a:p>
            <a:r>
              <a:rPr lang="en-US"/>
              <a:t>Click to edit Master title style</a:t>
            </a:r>
            <a:endParaRPr lang="en-US" dirty="0"/>
          </a:p>
        </p:txBody>
      </p:sp>
      <p:sp>
        <p:nvSpPr>
          <p:cNvPr id="3" name="Text Placeholder 2"/>
          <p:cNvSpPr>
            <a:spLocks noGrp="1"/>
          </p:cNvSpPr>
          <p:nvPr>
            <p:ph type="body" idx="1"/>
          </p:nvPr>
        </p:nvSpPr>
        <p:spPr>
          <a:xfrm>
            <a:off x="248000" y="1041387"/>
            <a:ext cx="1523159" cy="510368"/>
          </a:xfrm>
        </p:spPr>
        <p:txBody>
          <a:bodyPr anchor="b"/>
          <a:lstStyle>
            <a:lvl1pPr marL="0" indent="0">
              <a:buNone/>
              <a:defRPr sz="945" b="1"/>
            </a:lvl1pPr>
            <a:lvl2pPr marL="180045" indent="0">
              <a:buNone/>
              <a:defRPr sz="788" b="1"/>
            </a:lvl2pPr>
            <a:lvl3pPr marL="360091" indent="0">
              <a:buNone/>
              <a:defRPr sz="709" b="1"/>
            </a:lvl3pPr>
            <a:lvl4pPr marL="540136" indent="0">
              <a:buNone/>
              <a:defRPr sz="630" b="1"/>
            </a:lvl4pPr>
            <a:lvl5pPr marL="720181" indent="0">
              <a:buNone/>
              <a:defRPr sz="630" b="1"/>
            </a:lvl5pPr>
            <a:lvl6pPr marL="900227" indent="0">
              <a:buNone/>
              <a:defRPr sz="630" b="1"/>
            </a:lvl6pPr>
            <a:lvl7pPr marL="1080272" indent="0">
              <a:buNone/>
              <a:defRPr sz="630" b="1"/>
            </a:lvl7pPr>
            <a:lvl8pPr marL="1260318" indent="0">
              <a:buNone/>
              <a:defRPr sz="630" b="1"/>
            </a:lvl8pPr>
            <a:lvl9pPr marL="1440363" indent="0">
              <a:buNone/>
              <a:defRPr sz="630" b="1"/>
            </a:lvl9pPr>
          </a:lstStyle>
          <a:p>
            <a:pPr lvl="0"/>
            <a:r>
              <a:rPr lang="en-US"/>
              <a:t>Click to edit Master text styles</a:t>
            </a:r>
          </a:p>
        </p:txBody>
      </p:sp>
      <p:sp>
        <p:nvSpPr>
          <p:cNvPr id="4" name="Content Placeholder 3"/>
          <p:cNvSpPr>
            <a:spLocks noGrp="1"/>
          </p:cNvSpPr>
          <p:nvPr>
            <p:ph sz="half" idx="2"/>
          </p:nvPr>
        </p:nvSpPr>
        <p:spPr>
          <a:xfrm>
            <a:off x="248000" y="1551755"/>
            <a:ext cx="1523159" cy="2282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822728" y="1041387"/>
            <a:ext cx="1530660" cy="510368"/>
          </a:xfrm>
        </p:spPr>
        <p:txBody>
          <a:bodyPr anchor="b"/>
          <a:lstStyle>
            <a:lvl1pPr marL="0" indent="0">
              <a:buNone/>
              <a:defRPr sz="945" b="1"/>
            </a:lvl1pPr>
            <a:lvl2pPr marL="180045" indent="0">
              <a:buNone/>
              <a:defRPr sz="788" b="1"/>
            </a:lvl2pPr>
            <a:lvl3pPr marL="360091" indent="0">
              <a:buNone/>
              <a:defRPr sz="709" b="1"/>
            </a:lvl3pPr>
            <a:lvl4pPr marL="540136" indent="0">
              <a:buNone/>
              <a:defRPr sz="630" b="1"/>
            </a:lvl4pPr>
            <a:lvl5pPr marL="720181" indent="0">
              <a:buNone/>
              <a:defRPr sz="630" b="1"/>
            </a:lvl5pPr>
            <a:lvl6pPr marL="900227" indent="0">
              <a:buNone/>
              <a:defRPr sz="630" b="1"/>
            </a:lvl6pPr>
            <a:lvl7pPr marL="1080272" indent="0">
              <a:buNone/>
              <a:defRPr sz="630" b="1"/>
            </a:lvl7pPr>
            <a:lvl8pPr marL="1260318" indent="0">
              <a:buNone/>
              <a:defRPr sz="630" b="1"/>
            </a:lvl8pPr>
            <a:lvl9pPr marL="1440363" indent="0">
              <a:buNone/>
              <a:defRPr sz="630" b="1"/>
            </a:lvl9pPr>
          </a:lstStyle>
          <a:p>
            <a:pPr lvl="0"/>
            <a:r>
              <a:rPr lang="en-US"/>
              <a:t>Click to edit Master text styles</a:t>
            </a:r>
          </a:p>
        </p:txBody>
      </p:sp>
      <p:sp>
        <p:nvSpPr>
          <p:cNvPr id="6" name="Content Placeholder 5"/>
          <p:cNvSpPr>
            <a:spLocks noGrp="1"/>
          </p:cNvSpPr>
          <p:nvPr>
            <p:ph sz="quarter" idx="4"/>
          </p:nvPr>
        </p:nvSpPr>
        <p:spPr>
          <a:xfrm>
            <a:off x="1822728" y="1551755"/>
            <a:ext cx="1530660" cy="2282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E741051-D69C-4F55-8AB4-3E5D03DFE334}" type="datetimeFigureOut">
              <a:rPr lang="en-SG" smtClean="0"/>
              <a:t>3/6/25</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A940806C-7B5B-4E50-9BC8-44B8B3CEBC6A}" type="slidenum">
              <a:rPr lang="en-SG" smtClean="0"/>
              <a:t>‹#›</a:t>
            </a:fld>
            <a:endParaRPr lang="en-SG"/>
          </a:p>
        </p:txBody>
      </p:sp>
    </p:spTree>
    <p:extLst>
      <p:ext uri="{BB962C8B-B14F-4D97-AF65-F5344CB8AC3E}">
        <p14:creationId xmlns:p14="http://schemas.microsoft.com/office/powerpoint/2010/main" val="7856547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E741051-D69C-4F55-8AB4-3E5D03DFE334}" type="datetimeFigureOut">
              <a:rPr lang="en-SG" smtClean="0"/>
              <a:t>3/6/25</a:t>
            </a:fld>
            <a:endParaRPr lang="en-SG"/>
          </a:p>
        </p:txBody>
      </p:sp>
      <p:sp>
        <p:nvSpPr>
          <p:cNvPr id="4" name="Footer Placeholder 3"/>
          <p:cNvSpPr>
            <a:spLocks noGrp="1"/>
          </p:cNvSpPr>
          <p:nvPr>
            <p:ph type="ftr" sz="quarter" idx="11"/>
          </p:nvPr>
        </p:nvSpPr>
        <p:spPr/>
        <p:txBody>
          <a:bodyPr/>
          <a:lstStyle/>
          <a:p>
            <a:endParaRPr lang="en-SG"/>
          </a:p>
        </p:txBody>
      </p:sp>
      <p:sp>
        <p:nvSpPr>
          <p:cNvPr id="5" name="Slide Number Placeholder 4"/>
          <p:cNvSpPr>
            <a:spLocks noGrp="1"/>
          </p:cNvSpPr>
          <p:nvPr>
            <p:ph type="sldNum" sz="quarter" idx="12"/>
          </p:nvPr>
        </p:nvSpPr>
        <p:spPr/>
        <p:txBody>
          <a:bodyPr/>
          <a:lstStyle/>
          <a:p>
            <a:fld id="{A940806C-7B5B-4E50-9BC8-44B8B3CEBC6A}" type="slidenum">
              <a:rPr lang="en-SG" smtClean="0"/>
              <a:t>‹#›</a:t>
            </a:fld>
            <a:endParaRPr lang="en-SG"/>
          </a:p>
        </p:txBody>
      </p:sp>
    </p:spTree>
    <p:extLst>
      <p:ext uri="{BB962C8B-B14F-4D97-AF65-F5344CB8AC3E}">
        <p14:creationId xmlns:p14="http://schemas.microsoft.com/office/powerpoint/2010/main" val="16030566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E741051-D69C-4F55-8AB4-3E5D03DFE334}" type="datetimeFigureOut">
              <a:rPr lang="en-SG" smtClean="0"/>
              <a:t>3/6/25</a:t>
            </a:fld>
            <a:endParaRPr lang="en-SG"/>
          </a:p>
        </p:txBody>
      </p:sp>
      <p:sp>
        <p:nvSpPr>
          <p:cNvPr id="3" name="Footer Placeholder 2"/>
          <p:cNvSpPr>
            <a:spLocks noGrp="1"/>
          </p:cNvSpPr>
          <p:nvPr>
            <p:ph type="ftr" sz="quarter" idx="11"/>
          </p:nvPr>
        </p:nvSpPr>
        <p:spPr/>
        <p:txBody>
          <a:bodyPr/>
          <a:lstStyle/>
          <a:p>
            <a:endParaRPr lang="en-SG"/>
          </a:p>
        </p:txBody>
      </p:sp>
      <p:sp>
        <p:nvSpPr>
          <p:cNvPr id="4" name="Slide Number Placeholder 3"/>
          <p:cNvSpPr>
            <a:spLocks noGrp="1"/>
          </p:cNvSpPr>
          <p:nvPr>
            <p:ph type="sldNum" sz="quarter" idx="12"/>
          </p:nvPr>
        </p:nvSpPr>
        <p:spPr/>
        <p:txBody>
          <a:bodyPr/>
          <a:lstStyle/>
          <a:p>
            <a:fld id="{A940806C-7B5B-4E50-9BC8-44B8B3CEBC6A}" type="slidenum">
              <a:rPr lang="en-SG" smtClean="0"/>
              <a:t>‹#›</a:t>
            </a:fld>
            <a:endParaRPr lang="en-SG"/>
          </a:p>
        </p:txBody>
      </p:sp>
    </p:spTree>
    <p:extLst>
      <p:ext uri="{BB962C8B-B14F-4D97-AF65-F5344CB8AC3E}">
        <p14:creationId xmlns:p14="http://schemas.microsoft.com/office/powerpoint/2010/main" val="32439844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48000" y="283210"/>
            <a:ext cx="1161239" cy="991235"/>
          </a:xfrm>
        </p:spPr>
        <p:txBody>
          <a:bodyPr anchor="b"/>
          <a:lstStyle>
            <a:lvl1pPr>
              <a:defRPr sz="1260"/>
            </a:lvl1pPr>
          </a:lstStyle>
          <a:p>
            <a:r>
              <a:rPr lang="en-US"/>
              <a:t>Click to edit Master title style</a:t>
            </a:r>
            <a:endParaRPr lang="en-US" dirty="0"/>
          </a:p>
        </p:txBody>
      </p:sp>
      <p:sp>
        <p:nvSpPr>
          <p:cNvPr id="3" name="Content Placeholder 2"/>
          <p:cNvSpPr>
            <a:spLocks noGrp="1"/>
          </p:cNvSpPr>
          <p:nvPr>
            <p:ph idx="1"/>
          </p:nvPr>
        </p:nvSpPr>
        <p:spPr>
          <a:xfrm>
            <a:off x="1530660" y="611656"/>
            <a:ext cx="1822728" cy="3018940"/>
          </a:xfrm>
        </p:spPr>
        <p:txBody>
          <a:bodyPr/>
          <a:lstStyle>
            <a:lvl1pPr>
              <a:defRPr sz="1260"/>
            </a:lvl1pPr>
            <a:lvl2pPr>
              <a:defRPr sz="1103"/>
            </a:lvl2pPr>
            <a:lvl3pPr>
              <a:defRPr sz="945"/>
            </a:lvl3pPr>
            <a:lvl4pPr>
              <a:defRPr sz="788"/>
            </a:lvl4pPr>
            <a:lvl5pPr>
              <a:defRPr sz="788"/>
            </a:lvl5pPr>
            <a:lvl6pPr>
              <a:defRPr sz="788"/>
            </a:lvl6pPr>
            <a:lvl7pPr>
              <a:defRPr sz="788"/>
            </a:lvl7pPr>
            <a:lvl8pPr>
              <a:defRPr sz="788"/>
            </a:lvl8pPr>
            <a:lvl9pPr>
              <a:defRPr sz="78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48000" y="1274445"/>
            <a:ext cx="1161239" cy="2361067"/>
          </a:xfrm>
        </p:spPr>
        <p:txBody>
          <a:bodyPr/>
          <a:lstStyle>
            <a:lvl1pPr marL="0" indent="0">
              <a:buNone/>
              <a:defRPr sz="630"/>
            </a:lvl1pPr>
            <a:lvl2pPr marL="180045" indent="0">
              <a:buNone/>
              <a:defRPr sz="551"/>
            </a:lvl2pPr>
            <a:lvl3pPr marL="360091" indent="0">
              <a:buNone/>
              <a:defRPr sz="473"/>
            </a:lvl3pPr>
            <a:lvl4pPr marL="540136" indent="0">
              <a:buNone/>
              <a:defRPr sz="394"/>
            </a:lvl4pPr>
            <a:lvl5pPr marL="720181" indent="0">
              <a:buNone/>
              <a:defRPr sz="394"/>
            </a:lvl5pPr>
            <a:lvl6pPr marL="900227" indent="0">
              <a:buNone/>
              <a:defRPr sz="394"/>
            </a:lvl6pPr>
            <a:lvl7pPr marL="1080272" indent="0">
              <a:buNone/>
              <a:defRPr sz="394"/>
            </a:lvl7pPr>
            <a:lvl8pPr marL="1260318" indent="0">
              <a:buNone/>
              <a:defRPr sz="394"/>
            </a:lvl8pPr>
            <a:lvl9pPr marL="1440363" indent="0">
              <a:buNone/>
              <a:defRPr sz="394"/>
            </a:lvl9pPr>
          </a:lstStyle>
          <a:p>
            <a:pPr lvl="0"/>
            <a:r>
              <a:rPr lang="en-US"/>
              <a:t>Click to edit Master text styles</a:t>
            </a:r>
          </a:p>
        </p:txBody>
      </p:sp>
      <p:sp>
        <p:nvSpPr>
          <p:cNvPr id="5" name="Date Placeholder 4"/>
          <p:cNvSpPr>
            <a:spLocks noGrp="1"/>
          </p:cNvSpPr>
          <p:nvPr>
            <p:ph type="dt" sz="half" idx="10"/>
          </p:nvPr>
        </p:nvSpPr>
        <p:spPr/>
        <p:txBody>
          <a:bodyPr/>
          <a:lstStyle/>
          <a:p>
            <a:fld id="{FE741051-D69C-4F55-8AB4-3E5D03DFE334}" type="datetimeFigureOut">
              <a:rPr lang="en-SG" smtClean="0"/>
              <a:t>3/6/25</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A940806C-7B5B-4E50-9BC8-44B8B3CEBC6A}" type="slidenum">
              <a:rPr lang="en-SG" smtClean="0"/>
              <a:t>‹#›</a:t>
            </a:fld>
            <a:endParaRPr lang="en-SG"/>
          </a:p>
        </p:txBody>
      </p:sp>
    </p:spTree>
    <p:extLst>
      <p:ext uri="{BB962C8B-B14F-4D97-AF65-F5344CB8AC3E}">
        <p14:creationId xmlns:p14="http://schemas.microsoft.com/office/powerpoint/2010/main" val="11461057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48000" y="283210"/>
            <a:ext cx="1161239" cy="991235"/>
          </a:xfrm>
        </p:spPr>
        <p:txBody>
          <a:bodyPr anchor="b"/>
          <a:lstStyle>
            <a:lvl1pPr>
              <a:defRPr sz="1260"/>
            </a:lvl1pPr>
          </a:lstStyle>
          <a:p>
            <a:r>
              <a:rPr lang="en-US"/>
              <a:t>Click to edit Master title style</a:t>
            </a:r>
            <a:endParaRPr lang="en-US" dirty="0"/>
          </a:p>
        </p:txBody>
      </p:sp>
      <p:sp>
        <p:nvSpPr>
          <p:cNvPr id="3" name="Picture Placeholder 2"/>
          <p:cNvSpPr>
            <a:spLocks noGrp="1" noChangeAspect="1"/>
          </p:cNvSpPr>
          <p:nvPr>
            <p:ph type="pic" idx="1"/>
          </p:nvPr>
        </p:nvSpPr>
        <p:spPr>
          <a:xfrm>
            <a:off x="1530660" y="611656"/>
            <a:ext cx="1822728" cy="3018940"/>
          </a:xfrm>
        </p:spPr>
        <p:txBody>
          <a:bodyPr anchor="t"/>
          <a:lstStyle>
            <a:lvl1pPr marL="0" indent="0">
              <a:buNone/>
              <a:defRPr sz="1260"/>
            </a:lvl1pPr>
            <a:lvl2pPr marL="180045" indent="0">
              <a:buNone/>
              <a:defRPr sz="1103"/>
            </a:lvl2pPr>
            <a:lvl3pPr marL="360091" indent="0">
              <a:buNone/>
              <a:defRPr sz="945"/>
            </a:lvl3pPr>
            <a:lvl4pPr marL="540136" indent="0">
              <a:buNone/>
              <a:defRPr sz="788"/>
            </a:lvl4pPr>
            <a:lvl5pPr marL="720181" indent="0">
              <a:buNone/>
              <a:defRPr sz="788"/>
            </a:lvl5pPr>
            <a:lvl6pPr marL="900227" indent="0">
              <a:buNone/>
              <a:defRPr sz="788"/>
            </a:lvl6pPr>
            <a:lvl7pPr marL="1080272" indent="0">
              <a:buNone/>
              <a:defRPr sz="788"/>
            </a:lvl7pPr>
            <a:lvl8pPr marL="1260318" indent="0">
              <a:buNone/>
              <a:defRPr sz="788"/>
            </a:lvl8pPr>
            <a:lvl9pPr marL="1440363" indent="0">
              <a:buNone/>
              <a:defRPr sz="788"/>
            </a:lvl9pPr>
          </a:lstStyle>
          <a:p>
            <a:r>
              <a:rPr lang="en-US"/>
              <a:t>Click icon to add picture</a:t>
            </a:r>
            <a:endParaRPr lang="en-US" dirty="0"/>
          </a:p>
        </p:txBody>
      </p:sp>
      <p:sp>
        <p:nvSpPr>
          <p:cNvPr id="4" name="Text Placeholder 3"/>
          <p:cNvSpPr>
            <a:spLocks noGrp="1"/>
          </p:cNvSpPr>
          <p:nvPr>
            <p:ph type="body" sz="half" idx="2"/>
          </p:nvPr>
        </p:nvSpPr>
        <p:spPr>
          <a:xfrm>
            <a:off x="248000" y="1274445"/>
            <a:ext cx="1161239" cy="2361067"/>
          </a:xfrm>
        </p:spPr>
        <p:txBody>
          <a:bodyPr/>
          <a:lstStyle>
            <a:lvl1pPr marL="0" indent="0">
              <a:buNone/>
              <a:defRPr sz="630"/>
            </a:lvl1pPr>
            <a:lvl2pPr marL="180045" indent="0">
              <a:buNone/>
              <a:defRPr sz="551"/>
            </a:lvl2pPr>
            <a:lvl3pPr marL="360091" indent="0">
              <a:buNone/>
              <a:defRPr sz="473"/>
            </a:lvl3pPr>
            <a:lvl4pPr marL="540136" indent="0">
              <a:buNone/>
              <a:defRPr sz="394"/>
            </a:lvl4pPr>
            <a:lvl5pPr marL="720181" indent="0">
              <a:buNone/>
              <a:defRPr sz="394"/>
            </a:lvl5pPr>
            <a:lvl6pPr marL="900227" indent="0">
              <a:buNone/>
              <a:defRPr sz="394"/>
            </a:lvl6pPr>
            <a:lvl7pPr marL="1080272" indent="0">
              <a:buNone/>
              <a:defRPr sz="394"/>
            </a:lvl7pPr>
            <a:lvl8pPr marL="1260318" indent="0">
              <a:buNone/>
              <a:defRPr sz="394"/>
            </a:lvl8pPr>
            <a:lvl9pPr marL="1440363" indent="0">
              <a:buNone/>
              <a:defRPr sz="394"/>
            </a:lvl9pPr>
          </a:lstStyle>
          <a:p>
            <a:pPr lvl="0"/>
            <a:r>
              <a:rPr lang="en-US"/>
              <a:t>Click to edit Master text styles</a:t>
            </a:r>
          </a:p>
        </p:txBody>
      </p:sp>
      <p:sp>
        <p:nvSpPr>
          <p:cNvPr id="5" name="Date Placeholder 4"/>
          <p:cNvSpPr>
            <a:spLocks noGrp="1"/>
          </p:cNvSpPr>
          <p:nvPr>
            <p:ph type="dt" sz="half" idx="10"/>
          </p:nvPr>
        </p:nvSpPr>
        <p:spPr/>
        <p:txBody>
          <a:bodyPr/>
          <a:lstStyle/>
          <a:p>
            <a:fld id="{FE741051-D69C-4F55-8AB4-3E5D03DFE334}" type="datetimeFigureOut">
              <a:rPr lang="en-SG" smtClean="0"/>
              <a:t>3/6/25</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A940806C-7B5B-4E50-9BC8-44B8B3CEBC6A}" type="slidenum">
              <a:rPr lang="en-SG" smtClean="0"/>
              <a:t>‹#›</a:t>
            </a:fld>
            <a:endParaRPr lang="en-SG"/>
          </a:p>
        </p:txBody>
      </p:sp>
    </p:spTree>
    <p:extLst>
      <p:ext uri="{BB962C8B-B14F-4D97-AF65-F5344CB8AC3E}">
        <p14:creationId xmlns:p14="http://schemas.microsoft.com/office/powerpoint/2010/main" val="12455161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E741051-D69C-4F55-8AB4-3E5D03DFE334}" type="datetimeFigureOut">
              <a:rPr lang="en-SG" smtClean="0"/>
              <a:t>3/6/25</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A940806C-7B5B-4E50-9BC8-44B8B3CEBC6A}" type="slidenum">
              <a:rPr lang="en-SG" smtClean="0"/>
              <a:t>‹#›</a:t>
            </a:fld>
            <a:endParaRPr lang="en-SG"/>
          </a:p>
        </p:txBody>
      </p:sp>
    </p:spTree>
    <p:extLst>
      <p:ext uri="{BB962C8B-B14F-4D97-AF65-F5344CB8AC3E}">
        <p14:creationId xmlns:p14="http://schemas.microsoft.com/office/powerpoint/2010/main" val="19154025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576572" y="226175"/>
            <a:ext cx="776347" cy="360011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47531" y="226175"/>
            <a:ext cx="2284035" cy="360011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E741051-D69C-4F55-8AB4-3E5D03DFE334}" type="datetimeFigureOut">
              <a:rPr lang="en-SG" smtClean="0"/>
              <a:t>3/6/25</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A940806C-7B5B-4E50-9BC8-44B8B3CEBC6A}" type="slidenum">
              <a:rPr lang="en-SG" smtClean="0"/>
              <a:t>‹#›</a:t>
            </a:fld>
            <a:endParaRPr lang="en-SG"/>
          </a:p>
        </p:txBody>
      </p:sp>
    </p:spTree>
    <p:extLst>
      <p:ext uri="{BB962C8B-B14F-4D97-AF65-F5344CB8AC3E}">
        <p14:creationId xmlns:p14="http://schemas.microsoft.com/office/powerpoint/2010/main" val="22565678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47531" y="226175"/>
            <a:ext cx="3105388" cy="82111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47531" y="1130873"/>
            <a:ext cx="3105388" cy="26954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47531" y="3937406"/>
            <a:ext cx="810101" cy="226175"/>
          </a:xfrm>
          <a:prstGeom prst="rect">
            <a:avLst/>
          </a:prstGeom>
        </p:spPr>
        <p:txBody>
          <a:bodyPr vert="horz" lIns="91440" tIns="45720" rIns="91440" bIns="45720" rtlCol="0" anchor="ctr"/>
          <a:lstStyle>
            <a:lvl1pPr algn="l">
              <a:defRPr sz="473">
                <a:solidFill>
                  <a:schemeClr val="tx1">
                    <a:tint val="82000"/>
                  </a:schemeClr>
                </a:solidFill>
              </a:defRPr>
            </a:lvl1pPr>
          </a:lstStyle>
          <a:p>
            <a:fld id="{FE741051-D69C-4F55-8AB4-3E5D03DFE334}" type="datetimeFigureOut">
              <a:rPr lang="en-SG" smtClean="0"/>
              <a:t>3/6/25</a:t>
            </a:fld>
            <a:endParaRPr lang="en-SG"/>
          </a:p>
        </p:txBody>
      </p:sp>
      <p:sp>
        <p:nvSpPr>
          <p:cNvPr id="5" name="Footer Placeholder 4"/>
          <p:cNvSpPr>
            <a:spLocks noGrp="1"/>
          </p:cNvSpPr>
          <p:nvPr>
            <p:ph type="ftr" sz="quarter" idx="3"/>
          </p:nvPr>
        </p:nvSpPr>
        <p:spPr>
          <a:xfrm>
            <a:off x="1192649" y="3937406"/>
            <a:ext cx="1215152" cy="226175"/>
          </a:xfrm>
          <a:prstGeom prst="rect">
            <a:avLst/>
          </a:prstGeom>
        </p:spPr>
        <p:txBody>
          <a:bodyPr vert="horz" lIns="91440" tIns="45720" rIns="91440" bIns="45720" rtlCol="0" anchor="ctr"/>
          <a:lstStyle>
            <a:lvl1pPr algn="ctr">
              <a:defRPr sz="473">
                <a:solidFill>
                  <a:schemeClr val="tx1">
                    <a:tint val="82000"/>
                  </a:schemeClr>
                </a:solidFill>
              </a:defRPr>
            </a:lvl1pPr>
          </a:lstStyle>
          <a:p>
            <a:endParaRPr lang="en-SG"/>
          </a:p>
        </p:txBody>
      </p:sp>
      <p:sp>
        <p:nvSpPr>
          <p:cNvPr id="6" name="Slide Number Placeholder 5"/>
          <p:cNvSpPr>
            <a:spLocks noGrp="1"/>
          </p:cNvSpPr>
          <p:nvPr>
            <p:ph type="sldNum" sz="quarter" idx="4"/>
          </p:nvPr>
        </p:nvSpPr>
        <p:spPr>
          <a:xfrm>
            <a:off x="2542818" y="3937406"/>
            <a:ext cx="810101" cy="226175"/>
          </a:xfrm>
          <a:prstGeom prst="rect">
            <a:avLst/>
          </a:prstGeom>
        </p:spPr>
        <p:txBody>
          <a:bodyPr vert="horz" lIns="91440" tIns="45720" rIns="91440" bIns="45720" rtlCol="0" anchor="ctr"/>
          <a:lstStyle>
            <a:lvl1pPr algn="r">
              <a:defRPr sz="473">
                <a:solidFill>
                  <a:schemeClr val="tx1">
                    <a:tint val="82000"/>
                  </a:schemeClr>
                </a:solidFill>
              </a:defRPr>
            </a:lvl1pPr>
          </a:lstStyle>
          <a:p>
            <a:fld id="{A940806C-7B5B-4E50-9BC8-44B8B3CEBC6A}" type="slidenum">
              <a:rPr lang="en-SG" smtClean="0"/>
              <a:t>‹#›</a:t>
            </a:fld>
            <a:endParaRPr lang="en-SG"/>
          </a:p>
        </p:txBody>
      </p:sp>
    </p:spTree>
    <p:extLst>
      <p:ext uri="{BB962C8B-B14F-4D97-AF65-F5344CB8AC3E}">
        <p14:creationId xmlns:p14="http://schemas.microsoft.com/office/powerpoint/2010/main" val="2489904370"/>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xStyles>
    <p:titleStyle>
      <a:lvl1pPr algn="l" defTabSz="360091" rtl="0" eaLnBrk="1" latinLnBrk="0" hangingPunct="1">
        <a:lnSpc>
          <a:spcPct val="90000"/>
        </a:lnSpc>
        <a:spcBef>
          <a:spcPct val="0"/>
        </a:spcBef>
        <a:buNone/>
        <a:defRPr sz="1733" kern="1200">
          <a:solidFill>
            <a:schemeClr val="tx1"/>
          </a:solidFill>
          <a:latin typeface="+mj-lt"/>
          <a:ea typeface="+mj-ea"/>
          <a:cs typeface="+mj-cs"/>
        </a:defRPr>
      </a:lvl1pPr>
    </p:titleStyle>
    <p:bodyStyle>
      <a:lvl1pPr marL="90023" indent="-90023" algn="l" defTabSz="360091" rtl="0" eaLnBrk="1" latinLnBrk="0" hangingPunct="1">
        <a:lnSpc>
          <a:spcPct val="90000"/>
        </a:lnSpc>
        <a:spcBef>
          <a:spcPts val="394"/>
        </a:spcBef>
        <a:buFont typeface="Arial" panose="020B0604020202020204" pitchFamily="34" charset="0"/>
        <a:buChar char="•"/>
        <a:defRPr sz="1103" kern="1200">
          <a:solidFill>
            <a:schemeClr val="tx1"/>
          </a:solidFill>
          <a:latin typeface="+mn-lt"/>
          <a:ea typeface="+mn-ea"/>
          <a:cs typeface="+mn-cs"/>
        </a:defRPr>
      </a:lvl1pPr>
      <a:lvl2pPr marL="270068" indent="-90023" algn="l" defTabSz="360091" rtl="0" eaLnBrk="1" latinLnBrk="0" hangingPunct="1">
        <a:lnSpc>
          <a:spcPct val="90000"/>
        </a:lnSpc>
        <a:spcBef>
          <a:spcPts val="197"/>
        </a:spcBef>
        <a:buFont typeface="Arial" panose="020B0604020202020204" pitchFamily="34" charset="0"/>
        <a:buChar char="•"/>
        <a:defRPr sz="945" kern="1200">
          <a:solidFill>
            <a:schemeClr val="tx1"/>
          </a:solidFill>
          <a:latin typeface="+mn-lt"/>
          <a:ea typeface="+mn-ea"/>
          <a:cs typeface="+mn-cs"/>
        </a:defRPr>
      </a:lvl2pPr>
      <a:lvl3pPr marL="450113" indent="-90023" algn="l" defTabSz="360091" rtl="0" eaLnBrk="1" latinLnBrk="0" hangingPunct="1">
        <a:lnSpc>
          <a:spcPct val="90000"/>
        </a:lnSpc>
        <a:spcBef>
          <a:spcPts val="197"/>
        </a:spcBef>
        <a:buFont typeface="Arial" panose="020B0604020202020204" pitchFamily="34" charset="0"/>
        <a:buChar char="•"/>
        <a:defRPr sz="788" kern="1200">
          <a:solidFill>
            <a:schemeClr val="tx1"/>
          </a:solidFill>
          <a:latin typeface="+mn-lt"/>
          <a:ea typeface="+mn-ea"/>
          <a:cs typeface="+mn-cs"/>
        </a:defRPr>
      </a:lvl3pPr>
      <a:lvl4pPr marL="630159" indent="-90023" algn="l" defTabSz="360091" rtl="0" eaLnBrk="1" latinLnBrk="0" hangingPunct="1">
        <a:lnSpc>
          <a:spcPct val="90000"/>
        </a:lnSpc>
        <a:spcBef>
          <a:spcPts val="197"/>
        </a:spcBef>
        <a:buFont typeface="Arial" panose="020B0604020202020204" pitchFamily="34" charset="0"/>
        <a:buChar char="•"/>
        <a:defRPr sz="709" kern="1200">
          <a:solidFill>
            <a:schemeClr val="tx1"/>
          </a:solidFill>
          <a:latin typeface="+mn-lt"/>
          <a:ea typeface="+mn-ea"/>
          <a:cs typeface="+mn-cs"/>
        </a:defRPr>
      </a:lvl4pPr>
      <a:lvl5pPr marL="810204" indent="-90023" algn="l" defTabSz="360091" rtl="0" eaLnBrk="1" latinLnBrk="0" hangingPunct="1">
        <a:lnSpc>
          <a:spcPct val="90000"/>
        </a:lnSpc>
        <a:spcBef>
          <a:spcPts val="197"/>
        </a:spcBef>
        <a:buFont typeface="Arial" panose="020B0604020202020204" pitchFamily="34" charset="0"/>
        <a:buChar char="•"/>
        <a:defRPr sz="709" kern="1200">
          <a:solidFill>
            <a:schemeClr val="tx1"/>
          </a:solidFill>
          <a:latin typeface="+mn-lt"/>
          <a:ea typeface="+mn-ea"/>
          <a:cs typeface="+mn-cs"/>
        </a:defRPr>
      </a:lvl5pPr>
      <a:lvl6pPr marL="990249" indent="-90023" algn="l" defTabSz="360091" rtl="0" eaLnBrk="1" latinLnBrk="0" hangingPunct="1">
        <a:lnSpc>
          <a:spcPct val="90000"/>
        </a:lnSpc>
        <a:spcBef>
          <a:spcPts val="197"/>
        </a:spcBef>
        <a:buFont typeface="Arial" panose="020B0604020202020204" pitchFamily="34" charset="0"/>
        <a:buChar char="•"/>
        <a:defRPr sz="709" kern="1200">
          <a:solidFill>
            <a:schemeClr val="tx1"/>
          </a:solidFill>
          <a:latin typeface="+mn-lt"/>
          <a:ea typeface="+mn-ea"/>
          <a:cs typeface="+mn-cs"/>
        </a:defRPr>
      </a:lvl6pPr>
      <a:lvl7pPr marL="1170295" indent="-90023" algn="l" defTabSz="360091" rtl="0" eaLnBrk="1" latinLnBrk="0" hangingPunct="1">
        <a:lnSpc>
          <a:spcPct val="90000"/>
        </a:lnSpc>
        <a:spcBef>
          <a:spcPts val="197"/>
        </a:spcBef>
        <a:buFont typeface="Arial" panose="020B0604020202020204" pitchFamily="34" charset="0"/>
        <a:buChar char="•"/>
        <a:defRPr sz="709" kern="1200">
          <a:solidFill>
            <a:schemeClr val="tx1"/>
          </a:solidFill>
          <a:latin typeface="+mn-lt"/>
          <a:ea typeface="+mn-ea"/>
          <a:cs typeface="+mn-cs"/>
        </a:defRPr>
      </a:lvl7pPr>
      <a:lvl8pPr marL="1350340" indent="-90023" algn="l" defTabSz="360091" rtl="0" eaLnBrk="1" latinLnBrk="0" hangingPunct="1">
        <a:lnSpc>
          <a:spcPct val="90000"/>
        </a:lnSpc>
        <a:spcBef>
          <a:spcPts val="197"/>
        </a:spcBef>
        <a:buFont typeface="Arial" panose="020B0604020202020204" pitchFamily="34" charset="0"/>
        <a:buChar char="•"/>
        <a:defRPr sz="709" kern="1200">
          <a:solidFill>
            <a:schemeClr val="tx1"/>
          </a:solidFill>
          <a:latin typeface="+mn-lt"/>
          <a:ea typeface="+mn-ea"/>
          <a:cs typeface="+mn-cs"/>
        </a:defRPr>
      </a:lvl8pPr>
      <a:lvl9pPr marL="1530386" indent="-90023" algn="l" defTabSz="360091" rtl="0" eaLnBrk="1" latinLnBrk="0" hangingPunct="1">
        <a:lnSpc>
          <a:spcPct val="90000"/>
        </a:lnSpc>
        <a:spcBef>
          <a:spcPts val="197"/>
        </a:spcBef>
        <a:buFont typeface="Arial" panose="020B0604020202020204" pitchFamily="34" charset="0"/>
        <a:buChar char="•"/>
        <a:defRPr sz="709" kern="1200">
          <a:solidFill>
            <a:schemeClr val="tx1"/>
          </a:solidFill>
          <a:latin typeface="+mn-lt"/>
          <a:ea typeface="+mn-ea"/>
          <a:cs typeface="+mn-cs"/>
        </a:defRPr>
      </a:lvl9pPr>
    </p:bodyStyle>
    <p:otherStyle>
      <a:defPPr>
        <a:defRPr lang="en-US"/>
      </a:defPPr>
      <a:lvl1pPr marL="0" algn="l" defTabSz="360091" rtl="0" eaLnBrk="1" latinLnBrk="0" hangingPunct="1">
        <a:defRPr sz="709" kern="1200">
          <a:solidFill>
            <a:schemeClr val="tx1"/>
          </a:solidFill>
          <a:latin typeface="+mn-lt"/>
          <a:ea typeface="+mn-ea"/>
          <a:cs typeface="+mn-cs"/>
        </a:defRPr>
      </a:lvl1pPr>
      <a:lvl2pPr marL="180045" algn="l" defTabSz="360091" rtl="0" eaLnBrk="1" latinLnBrk="0" hangingPunct="1">
        <a:defRPr sz="709" kern="1200">
          <a:solidFill>
            <a:schemeClr val="tx1"/>
          </a:solidFill>
          <a:latin typeface="+mn-lt"/>
          <a:ea typeface="+mn-ea"/>
          <a:cs typeface="+mn-cs"/>
        </a:defRPr>
      </a:lvl2pPr>
      <a:lvl3pPr marL="360091" algn="l" defTabSz="360091" rtl="0" eaLnBrk="1" latinLnBrk="0" hangingPunct="1">
        <a:defRPr sz="709" kern="1200">
          <a:solidFill>
            <a:schemeClr val="tx1"/>
          </a:solidFill>
          <a:latin typeface="+mn-lt"/>
          <a:ea typeface="+mn-ea"/>
          <a:cs typeface="+mn-cs"/>
        </a:defRPr>
      </a:lvl3pPr>
      <a:lvl4pPr marL="540136" algn="l" defTabSz="360091" rtl="0" eaLnBrk="1" latinLnBrk="0" hangingPunct="1">
        <a:defRPr sz="709" kern="1200">
          <a:solidFill>
            <a:schemeClr val="tx1"/>
          </a:solidFill>
          <a:latin typeface="+mn-lt"/>
          <a:ea typeface="+mn-ea"/>
          <a:cs typeface="+mn-cs"/>
        </a:defRPr>
      </a:lvl4pPr>
      <a:lvl5pPr marL="720181" algn="l" defTabSz="360091" rtl="0" eaLnBrk="1" latinLnBrk="0" hangingPunct="1">
        <a:defRPr sz="709" kern="1200">
          <a:solidFill>
            <a:schemeClr val="tx1"/>
          </a:solidFill>
          <a:latin typeface="+mn-lt"/>
          <a:ea typeface="+mn-ea"/>
          <a:cs typeface="+mn-cs"/>
        </a:defRPr>
      </a:lvl5pPr>
      <a:lvl6pPr marL="900227" algn="l" defTabSz="360091" rtl="0" eaLnBrk="1" latinLnBrk="0" hangingPunct="1">
        <a:defRPr sz="709" kern="1200">
          <a:solidFill>
            <a:schemeClr val="tx1"/>
          </a:solidFill>
          <a:latin typeface="+mn-lt"/>
          <a:ea typeface="+mn-ea"/>
          <a:cs typeface="+mn-cs"/>
        </a:defRPr>
      </a:lvl6pPr>
      <a:lvl7pPr marL="1080272" algn="l" defTabSz="360091" rtl="0" eaLnBrk="1" latinLnBrk="0" hangingPunct="1">
        <a:defRPr sz="709" kern="1200">
          <a:solidFill>
            <a:schemeClr val="tx1"/>
          </a:solidFill>
          <a:latin typeface="+mn-lt"/>
          <a:ea typeface="+mn-ea"/>
          <a:cs typeface="+mn-cs"/>
        </a:defRPr>
      </a:lvl7pPr>
      <a:lvl8pPr marL="1260318" algn="l" defTabSz="360091" rtl="0" eaLnBrk="1" latinLnBrk="0" hangingPunct="1">
        <a:defRPr sz="709" kern="1200">
          <a:solidFill>
            <a:schemeClr val="tx1"/>
          </a:solidFill>
          <a:latin typeface="+mn-lt"/>
          <a:ea typeface="+mn-ea"/>
          <a:cs typeface="+mn-cs"/>
        </a:defRPr>
      </a:lvl8pPr>
      <a:lvl9pPr marL="1440363" algn="l" defTabSz="360091" rtl="0" eaLnBrk="1" latinLnBrk="0" hangingPunct="1">
        <a:defRPr sz="70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28818-F2C1-4252-8E74-60C780A6309F}"/>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D738390D-E1FA-F397-15CC-69FA0467ED27}"/>
              </a:ext>
            </a:extLst>
          </p:cNvPr>
          <p:cNvSpPr/>
          <p:nvPr/>
        </p:nvSpPr>
        <p:spPr>
          <a:xfrm>
            <a:off x="72681" y="141803"/>
            <a:ext cx="1622447" cy="842064"/>
          </a:xfrm>
          <a:prstGeom prst="roundRect">
            <a:avLst/>
          </a:prstGeom>
          <a:solidFill>
            <a:schemeClr val="accent1">
              <a:lumMod val="20000"/>
              <a:lumOff val="80000"/>
            </a:schemeClr>
          </a:solidFill>
          <a:ln>
            <a:solidFill>
              <a:schemeClr val="accent1"/>
            </a:solid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SG" sz="748" dirty="0"/>
          </a:p>
        </p:txBody>
      </p:sp>
      <p:sp>
        <p:nvSpPr>
          <p:cNvPr id="5" name="TextBox 4">
            <a:extLst>
              <a:ext uri="{FF2B5EF4-FFF2-40B4-BE49-F238E27FC236}">
                <a16:creationId xmlns:a16="http://schemas.microsoft.com/office/drawing/2014/main" id="{A17CA195-699A-D5E9-551E-FA5F3F7053CF}"/>
              </a:ext>
            </a:extLst>
          </p:cNvPr>
          <p:cNvSpPr txBox="1"/>
          <p:nvPr/>
        </p:nvSpPr>
        <p:spPr>
          <a:xfrm>
            <a:off x="126167" y="151428"/>
            <a:ext cx="1488044" cy="215444"/>
          </a:xfrm>
          <a:prstGeom prst="rect">
            <a:avLst/>
          </a:prstGeom>
          <a:noFill/>
        </p:spPr>
        <p:txBody>
          <a:bodyPr wrap="square" rtlCol="0">
            <a:spAutoFit/>
          </a:bodyPr>
          <a:lstStyle/>
          <a:p>
            <a:pPr algn="ctr"/>
            <a:r>
              <a:rPr lang="en-SG" sz="800" dirty="0"/>
              <a:t>(a) Data Collection</a:t>
            </a:r>
          </a:p>
        </p:txBody>
      </p:sp>
      <p:sp>
        <p:nvSpPr>
          <p:cNvPr id="6" name="Rectangle: Rounded Corners 5">
            <a:extLst>
              <a:ext uri="{FF2B5EF4-FFF2-40B4-BE49-F238E27FC236}">
                <a16:creationId xmlns:a16="http://schemas.microsoft.com/office/drawing/2014/main" id="{7D4BA82E-10FB-7BA6-0514-B362DA600D73}"/>
              </a:ext>
            </a:extLst>
          </p:cNvPr>
          <p:cNvSpPr/>
          <p:nvPr/>
        </p:nvSpPr>
        <p:spPr>
          <a:xfrm>
            <a:off x="152340" y="397271"/>
            <a:ext cx="712073" cy="41001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700" dirty="0">
                <a:latin typeface="fkGroteskNeue"/>
              </a:rPr>
              <a:t> </a:t>
            </a:r>
            <a:r>
              <a:rPr lang="en-SG" sz="500" dirty="0">
                <a:solidFill>
                  <a:schemeClr val="tx1"/>
                </a:solidFill>
              </a:rPr>
              <a:t>Soccer Match Statistics</a:t>
            </a:r>
          </a:p>
        </p:txBody>
      </p:sp>
      <p:sp>
        <p:nvSpPr>
          <p:cNvPr id="8" name="Rectangle: Rounded Corners 7">
            <a:extLst>
              <a:ext uri="{FF2B5EF4-FFF2-40B4-BE49-F238E27FC236}">
                <a16:creationId xmlns:a16="http://schemas.microsoft.com/office/drawing/2014/main" id="{C2ED479F-56EF-D41C-0D82-A67CC813EE21}"/>
              </a:ext>
            </a:extLst>
          </p:cNvPr>
          <p:cNvSpPr/>
          <p:nvPr/>
        </p:nvSpPr>
        <p:spPr>
          <a:xfrm>
            <a:off x="891565" y="397265"/>
            <a:ext cx="722653" cy="410016"/>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500" dirty="0">
              <a:solidFill>
                <a:schemeClr val="tx1"/>
              </a:solidFill>
            </a:endParaRPr>
          </a:p>
        </p:txBody>
      </p:sp>
      <p:sp>
        <p:nvSpPr>
          <p:cNvPr id="10" name="Rectangle: Rounded Corners 9">
            <a:extLst>
              <a:ext uri="{FF2B5EF4-FFF2-40B4-BE49-F238E27FC236}">
                <a16:creationId xmlns:a16="http://schemas.microsoft.com/office/drawing/2014/main" id="{E20E2E91-16EF-B4A0-9EFB-7A7CCE8FCB2F}"/>
              </a:ext>
            </a:extLst>
          </p:cNvPr>
          <p:cNvSpPr/>
          <p:nvPr/>
        </p:nvSpPr>
        <p:spPr>
          <a:xfrm>
            <a:off x="1754338" y="141807"/>
            <a:ext cx="1781434" cy="2880415"/>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1801"/>
          </a:p>
        </p:txBody>
      </p:sp>
      <p:sp>
        <p:nvSpPr>
          <p:cNvPr id="11" name="TextBox 10">
            <a:extLst>
              <a:ext uri="{FF2B5EF4-FFF2-40B4-BE49-F238E27FC236}">
                <a16:creationId xmlns:a16="http://schemas.microsoft.com/office/drawing/2014/main" id="{B71FC7C9-A063-4394-F1A1-BD1D06046181}"/>
              </a:ext>
            </a:extLst>
          </p:cNvPr>
          <p:cNvSpPr txBox="1"/>
          <p:nvPr/>
        </p:nvSpPr>
        <p:spPr>
          <a:xfrm>
            <a:off x="2019169" y="172925"/>
            <a:ext cx="1390076" cy="215445"/>
          </a:xfrm>
          <a:prstGeom prst="rect">
            <a:avLst/>
          </a:prstGeom>
          <a:noFill/>
        </p:spPr>
        <p:txBody>
          <a:bodyPr wrap="square" rtlCol="0">
            <a:spAutoFit/>
          </a:bodyPr>
          <a:lstStyle/>
          <a:p>
            <a:r>
              <a:rPr lang="en-SG" sz="800" dirty="0"/>
              <a:t>(b) LLM Sentiment Analysis</a:t>
            </a:r>
          </a:p>
        </p:txBody>
      </p:sp>
      <p:sp>
        <p:nvSpPr>
          <p:cNvPr id="13" name="Rectangle: Rounded Corners 12">
            <a:extLst>
              <a:ext uri="{FF2B5EF4-FFF2-40B4-BE49-F238E27FC236}">
                <a16:creationId xmlns:a16="http://schemas.microsoft.com/office/drawing/2014/main" id="{7CB11A16-9C09-F440-603D-0EFF768D42C5}"/>
              </a:ext>
            </a:extLst>
          </p:cNvPr>
          <p:cNvSpPr/>
          <p:nvPr/>
        </p:nvSpPr>
        <p:spPr>
          <a:xfrm>
            <a:off x="1864495" y="397266"/>
            <a:ext cx="1612062" cy="4203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500" b="1" dirty="0">
                <a:solidFill>
                  <a:schemeClr val="tx1"/>
                </a:solidFill>
              </a:rPr>
              <a:t>LLM Sentiment Score for Upcoming Match</a:t>
            </a:r>
          </a:p>
          <a:p>
            <a:pPr algn="ctr"/>
            <a:r>
              <a:rPr lang="en-SG" sz="500" dirty="0">
                <a:solidFill>
                  <a:schemeClr val="tx1"/>
                </a:solidFill>
              </a:rPr>
              <a:t>Predict the sentiment for each team for the upcoming match based on what happened in the previous match from the commentaries</a:t>
            </a:r>
          </a:p>
        </p:txBody>
      </p:sp>
      <p:sp>
        <p:nvSpPr>
          <p:cNvPr id="26" name="Rectangle: Rounded Corners 25">
            <a:extLst>
              <a:ext uri="{FF2B5EF4-FFF2-40B4-BE49-F238E27FC236}">
                <a16:creationId xmlns:a16="http://schemas.microsoft.com/office/drawing/2014/main" id="{EB9D1D24-668E-9521-19CC-5D9B0CA659F3}"/>
              </a:ext>
            </a:extLst>
          </p:cNvPr>
          <p:cNvSpPr/>
          <p:nvPr/>
        </p:nvSpPr>
        <p:spPr>
          <a:xfrm>
            <a:off x="1864495" y="1004805"/>
            <a:ext cx="1612062" cy="83773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500" b="1" dirty="0">
                <a:solidFill>
                  <a:schemeClr val="tx1"/>
                </a:solidFill>
                <a:latin typeface="Aptos" panose="020B0004020202020204" pitchFamily="34" charset="0"/>
              </a:rPr>
              <a:t>Team Sentiment Ratings </a:t>
            </a:r>
          </a:p>
          <a:p>
            <a:pPr algn="ctr"/>
            <a:r>
              <a:rPr lang="en-SG" sz="700" dirty="0">
                <a:solidFill>
                  <a:schemeClr val="tx1"/>
                </a:solidFill>
                <a:latin typeface="fkGroteskNeue"/>
              </a:rPr>
              <a:t>⭐ </a:t>
            </a:r>
            <a:r>
              <a:rPr lang="en-SG" sz="500" dirty="0">
                <a:solidFill>
                  <a:schemeClr val="tx1"/>
                </a:solidFill>
              </a:rPr>
              <a:t>Sentiment Scoring  (1–5 scale) :</a:t>
            </a:r>
          </a:p>
          <a:p>
            <a:pPr algn="ctr"/>
            <a:r>
              <a:rPr lang="en-SG" sz="500" dirty="0">
                <a:solidFill>
                  <a:schemeClr val="tx1"/>
                </a:solidFill>
              </a:rPr>
              <a:t> 5 = Strongly Positive</a:t>
            </a:r>
          </a:p>
          <a:p>
            <a:pPr algn="ctr"/>
            <a:r>
              <a:rPr lang="en-SG" sz="500" dirty="0">
                <a:solidFill>
                  <a:schemeClr val="tx1"/>
                </a:solidFill>
              </a:rPr>
              <a:t>4 = Positive</a:t>
            </a:r>
          </a:p>
          <a:p>
            <a:pPr algn="ctr"/>
            <a:r>
              <a:rPr lang="en-SG" sz="500" dirty="0">
                <a:solidFill>
                  <a:schemeClr val="tx1"/>
                </a:solidFill>
              </a:rPr>
              <a:t>3 = Neutral</a:t>
            </a:r>
          </a:p>
          <a:p>
            <a:pPr algn="ctr"/>
            <a:r>
              <a:rPr lang="en-SG" sz="500" dirty="0">
                <a:solidFill>
                  <a:schemeClr val="tx1"/>
                </a:solidFill>
              </a:rPr>
              <a:t>2 = Negative</a:t>
            </a:r>
          </a:p>
          <a:p>
            <a:pPr algn="ctr"/>
            <a:r>
              <a:rPr lang="en-SG" sz="500" dirty="0">
                <a:solidFill>
                  <a:schemeClr val="tx1"/>
                </a:solidFill>
              </a:rPr>
              <a:t>1 = Strongly Negative</a:t>
            </a:r>
          </a:p>
          <a:p>
            <a:pPr algn="ctr"/>
            <a:endParaRPr lang="en-SG" sz="500" dirty="0">
              <a:solidFill>
                <a:schemeClr val="tx1"/>
              </a:solidFill>
            </a:endParaRPr>
          </a:p>
          <a:p>
            <a:pPr algn="ctr"/>
            <a:r>
              <a:rPr lang="en-SG" sz="500" dirty="0">
                <a:solidFill>
                  <a:schemeClr val="tx1"/>
                </a:solidFill>
              </a:rPr>
              <a:t>Use LLM to get sentiment ratings for each team for the upcoming match</a:t>
            </a:r>
          </a:p>
        </p:txBody>
      </p:sp>
      <p:sp>
        <p:nvSpPr>
          <p:cNvPr id="28" name="Rectangle: Rounded Corners 27">
            <a:extLst>
              <a:ext uri="{FF2B5EF4-FFF2-40B4-BE49-F238E27FC236}">
                <a16:creationId xmlns:a16="http://schemas.microsoft.com/office/drawing/2014/main" id="{3F3EEC70-440C-22D0-4848-D2DD2601FCC6}"/>
              </a:ext>
            </a:extLst>
          </p:cNvPr>
          <p:cNvSpPr/>
          <p:nvPr/>
        </p:nvSpPr>
        <p:spPr>
          <a:xfrm>
            <a:off x="1864495" y="2029770"/>
            <a:ext cx="1612062" cy="785356"/>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800" dirty="0">
                <a:latin typeface="fkGroteskNeue"/>
              </a:rPr>
              <a:t>🤖</a:t>
            </a:r>
            <a:r>
              <a:rPr lang="en-SG" sz="500" b="1" dirty="0">
                <a:solidFill>
                  <a:schemeClr val="tx1"/>
                </a:solidFill>
              </a:rPr>
              <a:t>LLM Sentiment Features</a:t>
            </a:r>
          </a:p>
          <a:p>
            <a:pPr algn="ctr"/>
            <a:r>
              <a:rPr lang="en-SG" sz="500" dirty="0">
                <a:solidFill>
                  <a:schemeClr val="tx1"/>
                </a:solidFill>
              </a:rPr>
              <a:t>After obtaining the sentiment rating for each of the home and away teams from the LLM, the final sentiment score is defined as the difference between the home and away sentiment ratings (home minus away)</a:t>
            </a:r>
          </a:p>
          <a:p>
            <a:pPr algn="ctr"/>
            <a:endParaRPr lang="en-SG" sz="500" b="1" dirty="0">
              <a:solidFill>
                <a:schemeClr val="tx1"/>
              </a:solidFill>
            </a:endParaRPr>
          </a:p>
          <a:p>
            <a:pPr algn="ctr"/>
            <a:r>
              <a:rPr lang="en-SG" sz="500" b="1" dirty="0">
                <a:solidFill>
                  <a:schemeClr val="tx1"/>
                </a:solidFill>
              </a:rPr>
              <a:t>Output: sentiment score as a feature</a:t>
            </a:r>
          </a:p>
        </p:txBody>
      </p:sp>
      <p:sp>
        <p:nvSpPr>
          <p:cNvPr id="45" name="TextBox 44">
            <a:extLst>
              <a:ext uri="{FF2B5EF4-FFF2-40B4-BE49-F238E27FC236}">
                <a16:creationId xmlns:a16="http://schemas.microsoft.com/office/drawing/2014/main" id="{D26B8124-94FB-1E16-B50F-8F60FC6EC43F}"/>
              </a:ext>
            </a:extLst>
          </p:cNvPr>
          <p:cNvSpPr txBox="1"/>
          <p:nvPr/>
        </p:nvSpPr>
        <p:spPr>
          <a:xfrm>
            <a:off x="75291" y="504311"/>
            <a:ext cx="348837" cy="253467"/>
          </a:xfrm>
          <a:prstGeom prst="rect">
            <a:avLst/>
          </a:prstGeom>
          <a:noFill/>
        </p:spPr>
        <p:txBody>
          <a:bodyPr wrap="square" rtlCol="0">
            <a:spAutoFit/>
          </a:bodyPr>
          <a:lstStyle/>
          <a:p>
            <a:r>
              <a:rPr lang="en-SG" sz="1001" dirty="0">
                <a:latin typeface="fkGroteskNeue"/>
              </a:rPr>
              <a:t>⚽</a:t>
            </a:r>
            <a:endParaRPr lang="en-SG" sz="1001" dirty="0"/>
          </a:p>
        </p:txBody>
      </p:sp>
      <p:sp>
        <p:nvSpPr>
          <p:cNvPr id="46" name="TextBox 45">
            <a:extLst>
              <a:ext uri="{FF2B5EF4-FFF2-40B4-BE49-F238E27FC236}">
                <a16:creationId xmlns:a16="http://schemas.microsoft.com/office/drawing/2014/main" id="{C9B9EFC2-E5A7-05C2-8B74-F93888A55800}"/>
              </a:ext>
            </a:extLst>
          </p:cNvPr>
          <p:cNvSpPr txBox="1"/>
          <p:nvPr/>
        </p:nvSpPr>
        <p:spPr>
          <a:xfrm>
            <a:off x="842638" y="486720"/>
            <a:ext cx="128587" cy="246349"/>
          </a:xfrm>
          <a:prstGeom prst="rect">
            <a:avLst/>
          </a:prstGeom>
          <a:noFill/>
        </p:spPr>
        <p:txBody>
          <a:bodyPr wrap="square" rtlCol="0">
            <a:spAutoFit/>
          </a:bodyPr>
          <a:lstStyle/>
          <a:p>
            <a:r>
              <a:rPr lang="en-SG" sz="1001" i="1" dirty="0">
                <a:latin typeface="fkGroteskNeue"/>
              </a:rPr>
              <a:t>📰</a:t>
            </a:r>
            <a:endParaRPr lang="en-SG" sz="1001" dirty="0"/>
          </a:p>
        </p:txBody>
      </p:sp>
      <p:sp>
        <p:nvSpPr>
          <p:cNvPr id="47" name="TextBox 46">
            <a:extLst>
              <a:ext uri="{FF2B5EF4-FFF2-40B4-BE49-F238E27FC236}">
                <a16:creationId xmlns:a16="http://schemas.microsoft.com/office/drawing/2014/main" id="{E4258185-ECB1-D487-CD6F-B91FCB92E35E}"/>
              </a:ext>
            </a:extLst>
          </p:cNvPr>
          <p:cNvSpPr txBox="1"/>
          <p:nvPr/>
        </p:nvSpPr>
        <p:spPr>
          <a:xfrm>
            <a:off x="1030223" y="502109"/>
            <a:ext cx="695608" cy="246221"/>
          </a:xfrm>
          <a:prstGeom prst="rect">
            <a:avLst/>
          </a:prstGeom>
          <a:noFill/>
        </p:spPr>
        <p:txBody>
          <a:bodyPr wrap="square" rtlCol="0">
            <a:spAutoFit/>
          </a:bodyPr>
          <a:lstStyle/>
          <a:p>
            <a:r>
              <a:rPr lang="en-SG" sz="500" dirty="0"/>
              <a:t>BBC Commentaries</a:t>
            </a:r>
            <a:endParaRPr lang="en-SG" sz="400" dirty="0"/>
          </a:p>
        </p:txBody>
      </p:sp>
      <p:cxnSp>
        <p:nvCxnSpPr>
          <p:cNvPr id="62" name="Straight Arrow Connector 61">
            <a:extLst>
              <a:ext uri="{FF2B5EF4-FFF2-40B4-BE49-F238E27FC236}">
                <a16:creationId xmlns:a16="http://schemas.microsoft.com/office/drawing/2014/main" id="{A3F849E7-FC9B-8E2D-2B96-3CB456D83D2D}"/>
              </a:ext>
            </a:extLst>
          </p:cNvPr>
          <p:cNvCxnSpPr>
            <a:cxnSpLocks/>
            <a:endCxn id="13" idx="1"/>
          </p:cNvCxnSpPr>
          <p:nvPr/>
        </p:nvCxnSpPr>
        <p:spPr>
          <a:xfrm flipV="1">
            <a:off x="1614211" y="607416"/>
            <a:ext cx="250284"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6" name="Straight Arrow Connector 65">
            <a:extLst>
              <a:ext uri="{FF2B5EF4-FFF2-40B4-BE49-F238E27FC236}">
                <a16:creationId xmlns:a16="http://schemas.microsoft.com/office/drawing/2014/main" id="{EE0D822C-CDDB-A45E-C63A-9720AD39058D}"/>
              </a:ext>
            </a:extLst>
          </p:cNvPr>
          <p:cNvCxnSpPr>
            <a:cxnSpLocks/>
            <a:stCxn id="13" idx="2"/>
            <a:endCxn id="26" idx="0"/>
          </p:cNvCxnSpPr>
          <p:nvPr/>
        </p:nvCxnSpPr>
        <p:spPr>
          <a:xfrm>
            <a:off x="2670526" y="817566"/>
            <a:ext cx="0" cy="18723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8" name="Straight Arrow Connector 67">
            <a:extLst>
              <a:ext uri="{FF2B5EF4-FFF2-40B4-BE49-F238E27FC236}">
                <a16:creationId xmlns:a16="http://schemas.microsoft.com/office/drawing/2014/main" id="{1787FE89-85A4-B07F-5F65-C63FBBF0B402}"/>
              </a:ext>
            </a:extLst>
          </p:cNvPr>
          <p:cNvCxnSpPr>
            <a:cxnSpLocks/>
            <a:stCxn id="26" idx="2"/>
            <a:endCxn id="28" idx="0"/>
          </p:cNvCxnSpPr>
          <p:nvPr/>
        </p:nvCxnSpPr>
        <p:spPr>
          <a:xfrm>
            <a:off x="2670525" y="1842535"/>
            <a:ext cx="0" cy="18723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69" name="Rectangle: Rounded Corners 68">
            <a:extLst>
              <a:ext uri="{FF2B5EF4-FFF2-40B4-BE49-F238E27FC236}">
                <a16:creationId xmlns:a16="http://schemas.microsoft.com/office/drawing/2014/main" id="{08CB2C5C-3766-2B1E-ABCC-B3F8DB60FDFF}"/>
              </a:ext>
            </a:extLst>
          </p:cNvPr>
          <p:cNvSpPr/>
          <p:nvPr/>
        </p:nvSpPr>
        <p:spPr>
          <a:xfrm>
            <a:off x="72683" y="1050840"/>
            <a:ext cx="1622447" cy="3071516"/>
          </a:xfrm>
          <a:prstGeom prst="roundRect">
            <a:avLst/>
          </a:prstGeom>
          <a:solidFill>
            <a:srgbClr val="FDFEC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1801" dirty="0">
              <a:highlight>
                <a:srgbClr val="FFFF00"/>
              </a:highlight>
            </a:endParaRPr>
          </a:p>
        </p:txBody>
      </p:sp>
      <p:sp>
        <p:nvSpPr>
          <p:cNvPr id="70" name="TextBox 69">
            <a:extLst>
              <a:ext uri="{FF2B5EF4-FFF2-40B4-BE49-F238E27FC236}">
                <a16:creationId xmlns:a16="http://schemas.microsoft.com/office/drawing/2014/main" id="{6A7291E8-360C-B05C-9A2C-6DA67D8AEDA4}"/>
              </a:ext>
            </a:extLst>
          </p:cNvPr>
          <p:cNvSpPr txBox="1"/>
          <p:nvPr/>
        </p:nvSpPr>
        <p:spPr>
          <a:xfrm>
            <a:off x="249711" y="1045135"/>
            <a:ext cx="1427337" cy="338554"/>
          </a:xfrm>
          <a:prstGeom prst="rect">
            <a:avLst/>
          </a:prstGeom>
          <a:noFill/>
        </p:spPr>
        <p:txBody>
          <a:bodyPr wrap="square" rtlCol="0">
            <a:spAutoFit/>
          </a:bodyPr>
          <a:lstStyle/>
          <a:p>
            <a:r>
              <a:rPr lang="en-SG" sz="800" dirty="0"/>
              <a:t>(c) Machine Learning Models &amp; Learning Pipeline</a:t>
            </a:r>
          </a:p>
        </p:txBody>
      </p:sp>
      <p:sp>
        <p:nvSpPr>
          <p:cNvPr id="74" name="Rectangle: Rounded Corners 73">
            <a:extLst>
              <a:ext uri="{FF2B5EF4-FFF2-40B4-BE49-F238E27FC236}">
                <a16:creationId xmlns:a16="http://schemas.microsoft.com/office/drawing/2014/main" id="{36422285-C2DC-B029-6DD5-3678C43A6FC2}"/>
              </a:ext>
            </a:extLst>
          </p:cNvPr>
          <p:cNvSpPr/>
          <p:nvPr/>
        </p:nvSpPr>
        <p:spPr>
          <a:xfrm>
            <a:off x="200783" y="1522499"/>
            <a:ext cx="1353885" cy="41072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500" b="1" dirty="0">
                <a:solidFill>
                  <a:schemeClr val="tx1"/>
                </a:solidFill>
              </a:rPr>
              <a:t>Data Preprocessing</a:t>
            </a:r>
          </a:p>
          <a:p>
            <a:pPr algn="ctr"/>
            <a:r>
              <a:rPr lang="en-SG" sz="500" dirty="0">
                <a:solidFill>
                  <a:schemeClr val="tx1"/>
                </a:solidFill>
              </a:rPr>
              <a:t>Take soccer statistics difference be-tween home and away teams (home minus away) as features</a:t>
            </a:r>
          </a:p>
        </p:txBody>
      </p:sp>
      <p:sp>
        <p:nvSpPr>
          <p:cNvPr id="80" name="Rectangle: Rounded Corners 79">
            <a:extLst>
              <a:ext uri="{FF2B5EF4-FFF2-40B4-BE49-F238E27FC236}">
                <a16:creationId xmlns:a16="http://schemas.microsoft.com/office/drawing/2014/main" id="{02883868-F339-6A0B-727D-8330D7332D6F}"/>
              </a:ext>
            </a:extLst>
          </p:cNvPr>
          <p:cNvSpPr/>
          <p:nvPr/>
        </p:nvSpPr>
        <p:spPr>
          <a:xfrm>
            <a:off x="200783" y="2127078"/>
            <a:ext cx="1353885" cy="6133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500" b="1" dirty="0">
                <a:solidFill>
                  <a:schemeClr val="tx1"/>
                </a:solidFill>
              </a:rPr>
              <a:t>Feature Engineering</a:t>
            </a:r>
          </a:p>
          <a:p>
            <a:pPr algn="ctr"/>
            <a:r>
              <a:rPr lang="en-SG" sz="500" dirty="0">
                <a:solidFill>
                  <a:schemeClr val="tx1"/>
                </a:solidFill>
              </a:rPr>
              <a:t>Remove highly correlated features, then use sequential forward selection  (highest accuracy)</a:t>
            </a:r>
          </a:p>
          <a:p>
            <a:pPr algn="ctr"/>
            <a:endParaRPr lang="en-SG" sz="500" dirty="0">
              <a:solidFill>
                <a:schemeClr val="tx1"/>
              </a:solidFill>
            </a:endParaRPr>
          </a:p>
          <a:p>
            <a:pPr algn="ctr"/>
            <a:r>
              <a:rPr lang="en-SG" sz="500" dirty="0">
                <a:solidFill>
                  <a:schemeClr val="tx1"/>
                </a:solidFill>
              </a:rPr>
              <a:t>For LLM-enhanced models. Add the LLM feature from LLM sentiment analysis</a:t>
            </a:r>
          </a:p>
        </p:txBody>
      </p:sp>
      <p:cxnSp>
        <p:nvCxnSpPr>
          <p:cNvPr id="129" name="Straight Arrow Connector 128">
            <a:extLst>
              <a:ext uri="{FF2B5EF4-FFF2-40B4-BE49-F238E27FC236}">
                <a16:creationId xmlns:a16="http://schemas.microsoft.com/office/drawing/2014/main" id="{D9C8A89A-209A-BA73-812A-B0036691B079}"/>
              </a:ext>
            </a:extLst>
          </p:cNvPr>
          <p:cNvCxnSpPr>
            <a:cxnSpLocks/>
            <a:endCxn id="80" idx="3"/>
          </p:cNvCxnSpPr>
          <p:nvPr/>
        </p:nvCxnSpPr>
        <p:spPr>
          <a:xfrm flipH="1">
            <a:off x="1554661" y="2433736"/>
            <a:ext cx="30983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36" name="Straight Arrow Connector 135">
            <a:extLst>
              <a:ext uri="{FF2B5EF4-FFF2-40B4-BE49-F238E27FC236}">
                <a16:creationId xmlns:a16="http://schemas.microsoft.com/office/drawing/2014/main" id="{6C8EBC0B-BCA0-675C-0472-BC8FFECB1089}"/>
              </a:ext>
            </a:extLst>
          </p:cNvPr>
          <p:cNvCxnSpPr>
            <a:stCxn id="74" idx="2"/>
            <a:endCxn id="80" idx="0"/>
          </p:cNvCxnSpPr>
          <p:nvPr/>
        </p:nvCxnSpPr>
        <p:spPr>
          <a:xfrm>
            <a:off x="877726" y="1933227"/>
            <a:ext cx="0" cy="19385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38" name="Rectangle: Rounded Corners 137">
            <a:extLst>
              <a:ext uri="{FF2B5EF4-FFF2-40B4-BE49-F238E27FC236}">
                <a16:creationId xmlns:a16="http://schemas.microsoft.com/office/drawing/2014/main" id="{861498D1-F597-A056-1403-79403F1D2D73}"/>
              </a:ext>
            </a:extLst>
          </p:cNvPr>
          <p:cNvSpPr/>
          <p:nvPr/>
        </p:nvSpPr>
        <p:spPr>
          <a:xfrm>
            <a:off x="200781" y="2927709"/>
            <a:ext cx="1353885" cy="41072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500" b="1" dirty="0">
                <a:solidFill>
                  <a:schemeClr val="tx1"/>
                </a:solidFill>
              </a:rPr>
              <a:t>Hyperparameter Tuning</a:t>
            </a:r>
          </a:p>
          <a:p>
            <a:pPr algn="ctr"/>
            <a:r>
              <a:rPr lang="en-SG" sz="500" dirty="0">
                <a:solidFill>
                  <a:schemeClr val="tx1"/>
                </a:solidFill>
              </a:rPr>
              <a:t>Grid search, using 5-fold cross-validation</a:t>
            </a:r>
          </a:p>
          <a:p>
            <a:pPr algn="ctr"/>
            <a:r>
              <a:rPr lang="en-SG" sz="500" dirty="0">
                <a:solidFill>
                  <a:schemeClr val="tx1"/>
                </a:solidFill>
              </a:rPr>
              <a:t>Optimise for accuracy (highest accuracy)</a:t>
            </a:r>
          </a:p>
        </p:txBody>
      </p:sp>
      <p:sp>
        <p:nvSpPr>
          <p:cNvPr id="139" name="Rectangle: Rounded Corners 138">
            <a:extLst>
              <a:ext uri="{FF2B5EF4-FFF2-40B4-BE49-F238E27FC236}">
                <a16:creationId xmlns:a16="http://schemas.microsoft.com/office/drawing/2014/main" id="{905DB36D-14A3-3155-7FB1-697AD6DDDF7C}"/>
              </a:ext>
            </a:extLst>
          </p:cNvPr>
          <p:cNvSpPr/>
          <p:nvPr/>
        </p:nvSpPr>
        <p:spPr>
          <a:xfrm>
            <a:off x="200781" y="3525630"/>
            <a:ext cx="1353885" cy="41072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500" b="1" dirty="0">
                <a:solidFill>
                  <a:schemeClr val="tx1"/>
                </a:solidFill>
              </a:rPr>
              <a:t>Model Training</a:t>
            </a:r>
          </a:p>
          <a:p>
            <a:pPr algn="ctr"/>
            <a:r>
              <a:rPr lang="en-SG" sz="500" dirty="0">
                <a:solidFill>
                  <a:schemeClr val="tx1"/>
                </a:solidFill>
              </a:rPr>
              <a:t>Models used: Logistic Regression, SVC, Random Forest, </a:t>
            </a:r>
            <a:r>
              <a:rPr lang="en-SG" sz="500" dirty="0" err="1">
                <a:solidFill>
                  <a:schemeClr val="tx1"/>
                </a:solidFill>
              </a:rPr>
              <a:t>XGBoost</a:t>
            </a:r>
            <a:endParaRPr lang="en-SG" sz="500" dirty="0">
              <a:solidFill>
                <a:schemeClr val="tx1"/>
              </a:solidFill>
            </a:endParaRPr>
          </a:p>
        </p:txBody>
      </p:sp>
      <p:cxnSp>
        <p:nvCxnSpPr>
          <p:cNvPr id="148" name="Straight Arrow Connector 147">
            <a:extLst>
              <a:ext uri="{FF2B5EF4-FFF2-40B4-BE49-F238E27FC236}">
                <a16:creationId xmlns:a16="http://schemas.microsoft.com/office/drawing/2014/main" id="{AC3A0B66-555D-38A9-B088-BD6D81A27757}"/>
              </a:ext>
            </a:extLst>
          </p:cNvPr>
          <p:cNvCxnSpPr>
            <a:stCxn id="80" idx="2"/>
            <a:endCxn id="138" idx="0"/>
          </p:cNvCxnSpPr>
          <p:nvPr/>
        </p:nvCxnSpPr>
        <p:spPr>
          <a:xfrm flipH="1">
            <a:off x="877724" y="2740396"/>
            <a:ext cx="2" cy="18731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51" name="Straight Arrow Connector 150">
            <a:extLst>
              <a:ext uri="{FF2B5EF4-FFF2-40B4-BE49-F238E27FC236}">
                <a16:creationId xmlns:a16="http://schemas.microsoft.com/office/drawing/2014/main" id="{0B4EB404-A021-DD09-8812-052A9789AFD2}"/>
              </a:ext>
            </a:extLst>
          </p:cNvPr>
          <p:cNvCxnSpPr>
            <a:stCxn id="138" idx="2"/>
            <a:endCxn id="139" idx="0"/>
          </p:cNvCxnSpPr>
          <p:nvPr/>
        </p:nvCxnSpPr>
        <p:spPr>
          <a:xfrm>
            <a:off x="877724" y="3338437"/>
            <a:ext cx="0" cy="18719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58" name="Rectangle: Rounded Corners 157">
            <a:extLst>
              <a:ext uri="{FF2B5EF4-FFF2-40B4-BE49-F238E27FC236}">
                <a16:creationId xmlns:a16="http://schemas.microsoft.com/office/drawing/2014/main" id="{739A1816-FDA5-A577-0B84-A281C52718FA}"/>
              </a:ext>
            </a:extLst>
          </p:cNvPr>
          <p:cNvSpPr/>
          <p:nvPr/>
        </p:nvSpPr>
        <p:spPr>
          <a:xfrm>
            <a:off x="1754338" y="3076943"/>
            <a:ext cx="1781434" cy="1045419"/>
          </a:xfrm>
          <a:prstGeom prst="roundRect">
            <a:avLst/>
          </a:prstGeom>
          <a:solidFill>
            <a:schemeClr val="accent2">
              <a:lumMod val="20000"/>
              <a:lumOff val="80000"/>
            </a:schemeClr>
          </a:solidFill>
          <a:ln>
            <a:solidFill>
              <a:schemeClr val="accent1"/>
            </a:solid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SG" sz="500" dirty="0"/>
          </a:p>
          <a:p>
            <a:pPr algn="ctr"/>
            <a:endParaRPr lang="en-SG" sz="500" dirty="0"/>
          </a:p>
        </p:txBody>
      </p:sp>
      <p:sp>
        <p:nvSpPr>
          <p:cNvPr id="159" name="TextBox 158">
            <a:extLst>
              <a:ext uri="{FF2B5EF4-FFF2-40B4-BE49-F238E27FC236}">
                <a16:creationId xmlns:a16="http://schemas.microsoft.com/office/drawing/2014/main" id="{4847CCF1-4C65-EC5F-4B16-0739A29D62F2}"/>
              </a:ext>
            </a:extLst>
          </p:cNvPr>
          <p:cNvSpPr txBox="1"/>
          <p:nvPr/>
        </p:nvSpPr>
        <p:spPr>
          <a:xfrm>
            <a:off x="1972812" y="3114512"/>
            <a:ext cx="1352550" cy="215444"/>
          </a:xfrm>
          <a:prstGeom prst="rect">
            <a:avLst/>
          </a:prstGeom>
          <a:noFill/>
        </p:spPr>
        <p:txBody>
          <a:bodyPr wrap="square" rtlCol="0">
            <a:spAutoFit/>
          </a:bodyPr>
          <a:lstStyle/>
          <a:p>
            <a:pPr algn="ctr"/>
            <a:r>
              <a:rPr lang="en-SG" sz="800" dirty="0"/>
              <a:t>        (d) Betting Simulation </a:t>
            </a:r>
          </a:p>
        </p:txBody>
      </p:sp>
      <p:pic>
        <p:nvPicPr>
          <p:cNvPr id="1028" name="Picture 4" descr="Betting ">
            <a:extLst>
              <a:ext uri="{FF2B5EF4-FFF2-40B4-BE49-F238E27FC236}">
                <a16:creationId xmlns:a16="http://schemas.microsoft.com/office/drawing/2014/main" id="{BA21DBEA-6CDD-8E27-ED09-3DFD039268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31584" y="3127133"/>
            <a:ext cx="200025" cy="200025"/>
          </a:xfrm>
          <a:prstGeom prst="rect">
            <a:avLst/>
          </a:prstGeom>
          <a:noFill/>
          <a:extLst>
            <a:ext uri="{909E8E84-426E-40DD-AFC4-6F175D3DCCD1}">
              <a14:hiddenFill xmlns:a14="http://schemas.microsoft.com/office/drawing/2010/main">
                <a:solidFill>
                  <a:srgbClr val="FFFFFF"/>
                </a:solidFill>
              </a14:hiddenFill>
            </a:ext>
          </a:extLst>
        </p:spPr>
      </p:pic>
      <p:cxnSp>
        <p:nvCxnSpPr>
          <p:cNvPr id="170" name="Straight Arrow Connector 169">
            <a:extLst>
              <a:ext uri="{FF2B5EF4-FFF2-40B4-BE49-F238E27FC236}">
                <a16:creationId xmlns:a16="http://schemas.microsoft.com/office/drawing/2014/main" id="{FB89ACAE-2311-ED8F-80F9-F15C57A11A80}"/>
              </a:ext>
            </a:extLst>
          </p:cNvPr>
          <p:cNvCxnSpPr>
            <a:cxnSpLocks/>
            <a:stCxn id="139" idx="3"/>
          </p:cNvCxnSpPr>
          <p:nvPr/>
        </p:nvCxnSpPr>
        <p:spPr>
          <a:xfrm>
            <a:off x="1554658" y="3731003"/>
            <a:ext cx="418154" cy="109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71" name="Rectangle: Rounded Corners 170">
            <a:extLst>
              <a:ext uri="{FF2B5EF4-FFF2-40B4-BE49-F238E27FC236}">
                <a16:creationId xmlns:a16="http://schemas.microsoft.com/office/drawing/2014/main" id="{040E35D5-9FDE-703D-CB8A-EED6EE082E4F}"/>
              </a:ext>
            </a:extLst>
          </p:cNvPr>
          <p:cNvSpPr/>
          <p:nvPr/>
        </p:nvSpPr>
        <p:spPr>
          <a:xfrm>
            <a:off x="1972820" y="3460368"/>
            <a:ext cx="1353885" cy="50958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500" dirty="0">
                <a:solidFill>
                  <a:schemeClr val="tx1"/>
                </a:solidFill>
              </a:rPr>
              <a:t>Start with $10000 bankroll, bet one-eighth Kelly [12] for every model and only bet when there is a positive expected value (EV). </a:t>
            </a:r>
          </a:p>
        </p:txBody>
      </p:sp>
      <p:grpSp>
        <p:nvGrpSpPr>
          <p:cNvPr id="20" name="Group 19">
            <a:extLst>
              <a:ext uri="{FF2B5EF4-FFF2-40B4-BE49-F238E27FC236}">
                <a16:creationId xmlns:a16="http://schemas.microsoft.com/office/drawing/2014/main" id="{55693A79-FF8C-955D-5432-24A73C9B223E}"/>
              </a:ext>
            </a:extLst>
          </p:cNvPr>
          <p:cNvGrpSpPr/>
          <p:nvPr/>
        </p:nvGrpSpPr>
        <p:grpSpPr>
          <a:xfrm>
            <a:off x="219007" y="817566"/>
            <a:ext cx="315455" cy="88760"/>
            <a:chOff x="219007" y="840181"/>
            <a:chExt cx="315455" cy="105061"/>
          </a:xfrm>
        </p:grpSpPr>
        <p:cxnSp>
          <p:nvCxnSpPr>
            <p:cNvPr id="108" name="Straight Connector 107">
              <a:extLst>
                <a:ext uri="{FF2B5EF4-FFF2-40B4-BE49-F238E27FC236}">
                  <a16:creationId xmlns:a16="http://schemas.microsoft.com/office/drawing/2014/main" id="{A289D53D-D7C3-7BD1-EBFD-3A76EE6DAC59}"/>
                </a:ext>
              </a:extLst>
            </p:cNvPr>
            <p:cNvCxnSpPr>
              <a:cxnSpLocks/>
            </p:cNvCxnSpPr>
            <p:nvPr/>
          </p:nvCxnSpPr>
          <p:spPr>
            <a:xfrm flipH="1">
              <a:off x="534461" y="840181"/>
              <a:ext cx="1" cy="105061"/>
            </a:xfrm>
            <a:prstGeom prst="line">
              <a:avLst/>
            </a:prstGeom>
          </p:spPr>
          <p:style>
            <a:lnRef idx="2">
              <a:schemeClr val="dk1"/>
            </a:lnRef>
            <a:fillRef idx="0">
              <a:schemeClr val="dk1"/>
            </a:fillRef>
            <a:effectRef idx="1">
              <a:schemeClr val="dk1"/>
            </a:effectRef>
            <a:fontRef idx="minor">
              <a:schemeClr val="tx1"/>
            </a:fontRef>
          </p:style>
        </p:cxnSp>
        <p:cxnSp>
          <p:nvCxnSpPr>
            <p:cNvPr id="110" name="Straight Connector 109">
              <a:extLst>
                <a:ext uri="{FF2B5EF4-FFF2-40B4-BE49-F238E27FC236}">
                  <a16:creationId xmlns:a16="http://schemas.microsoft.com/office/drawing/2014/main" id="{3F19CCF3-1A0C-CEF6-617C-C08FFB855BBF}"/>
                </a:ext>
              </a:extLst>
            </p:cNvPr>
            <p:cNvCxnSpPr>
              <a:cxnSpLocks/>
            </p:cNvCxnSpPr>
            <p:nvPr/>
          </p:nvCxnSpPr>
          <p:spPr>
            <a:xfrm flipH="1">
              <a:off x="219007" y="939592"/>
              <a:ext cx="305926" cy="0"/>
            </a:xfrm>
            <a:prstGeom prst="line">
              <a:avLst/>
            </a:prstGeom>
          </p:spPr>
          <p:style>
            <a:lnRef idx="2">
              <a:schemeClr val="dk1"/>
            </a:lnRef>
            <a:fillRef idx="0">
              <a:schemeClr val="dk1"/>
            </a:fillRef>
            <a:effectRef idx="1">
              <a:schemeClr val="dk1"/>
            </a:effectRef>
            <a:fontRef idx="minor">
              <a:schemeClr val="tx1"/>
            </a:fontRef>
          </p:style>
        </p:cxnSp>
      </p:grpSp>
      <p:cxnSp>
        <p:nvCxnSpPr>
          <p:cNvPr id="112" name="Straight Connector 111">
            <a:extLst>
              <a:ext uri="{FF2B5EF4-FFF2-40B4-BE49-F238E27FC236}">
                <a16:creationId xmlns:a16="http://schemas.microsoft.com/office/drawing/2014/main" id="{B9723F54-38F4-B781-38BE-69CE65AF85AB}"/>
              </a:ext>
            </a:extLst>
          </p:cNvPr>
          <p:cNvCxnSpPr>
            <a:cxnSpLocks/>
          </p:cNvCxnSpPr>
          <p:nvPr/>
        </p:nvCxnSpPr>
        <p:spPr>
          <a:xfrm>
            <a:off x="223418" y="902769"/>
            <a:ext cx="0" cy="495995"/>
          </a:xfrm>
          <a:prstGeom prst="line">
            <a:avLst/>
          </a:prstGeom>
        </p:spPr>
        <p:style>
          <a:lnRef idx="2">
            <a:schemeClr val="dk1"/>
          </a:lnRef>
          <a:fillRef idx="0">
            <a:schemeClr val="dk1"/>
          </a:fillRef>
          <a:effectRef idx="1">
            <a:schemeClr val="dk1"/>
          </a:effectRef>
          <a:fontRef idx="minor">
            <a:schemeClr val="tx1"/>
          </a:fontRef>
        </p:style>
      </p:cxnSp>
      <p:cxnSp>
        <p:nvCxnSpPr>
          <p:cNvPr id="3" name="Connector: Elbow 2">
            <a:extLst>
              <a:ext uri="{FF2B5EF4-FFF2-40B4-BE49-F238E27FC236}">
                <a16:creationId xmlns:a16="http://schemas.microsoft.com/office/drawing/2014/main" id="{A5F5DFCD-CE1E-BCC9-C842-09E29A3CA165}"/>
              </a:ext>
            </a:extLst>
          </p:cNvPr>
          <p:cNvCxnSpPr>
            <a:cxnSpLocks/>
          </p:cNvCxnSpPr>
          <p:nvPr/>
        </p:nvCxnSpPr>
        <p:spPr>
          <a:xfrm>
            <a:off x="219007" y="1397164"/>
            <a:ext cx="654361" cy="127910"/>
          </a:xfrm>
          <a:prstGeom prst="bentConnector2">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0551253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20B16269-31AC-5F19-9236-E5F9E630F342}"/>
              </a:ext>
            </a:extLst>
          </p:cNvPr>
          <p:cNvSpPr/>
          <p:nvPr/>
        </p:nvSpPr>
        <p:spPr>
          <a:xfrm>
            <a:off x="72681" y="141803"/>
            <a:ext cx="1622447" cy="842064"/>
          </a:xfrm>
          <a:prstGeom prst="roundRect">
            <a:avLst/>
          </a:prstGeom>
          <a:solidFill>
            <a:schemeClr val="accent1">
              <a:lumMod val="20000"/>
              <a:lumOff val="80000"/>
            </a:schemeClr>
          </a:solidFill>
          <a:ln>
            <a:solidFill>
              <a:schemeClr val="accent1"/>
            </a:solid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SG" sz="748" dirty="0"/>
          </a:p>
        </p:txBody>
      </p:sp>
      <p:sp>
        <p:nvSpPr>
          <p:cNvPr id="5" name="TextBox 4">
            <a:extLst>
              <a:ext uri="{FF2B5EF4-FFF2-40B4-BE49-F238E27FC236}">
                <a16:creationId xmlns:a16="http://schemas.microsoft.com/office/drawing/2014/main" id="{FCFFD8CE-BE57-CD60-FFC1-63A7E8F8A178}"/>
              </a:ext>
            </a:extLst>
          </p:cNvPr>
          <p:cNvSpPr txBox="1"/>
          <p:nvPr/>
        </p:nvSpPr>
        <p:spPr>
          <a:xfrm>
            <a:off x="126167" y="151428"/>
            <a:ext cx="1488044" cy="215444"/>
          </a:xfrm>
          <a:prstGeom prst="rect">
            <a:avLst/>
          </a:prstGeom>
          <a:noFill/>
        </p:spPr>
        <p:txBody>
          <a:bodyPr wrap="square" rtlCol="0">
            <a:spAutoFit/>
          </a:bodyPr>
          <a:lstStyle/>
          <a:p>
            <a:pPr algn="ctr"/>
            <a:r>
              <a:rPr lang="en-SG" sz="800" dirty="0"/>
              <a:t>Dataset</a:t>
            </a:r>
          </a:p>
        </p:txBody>
      </p:sp>
      <p:sp>
        <p:nvSpPr>
          <p:cNvPr id="6" name="Rectangle: Rounded Corners 5">
            <a:extLst>
              <a:ext uri="{FF2B5EF4-FFF2-40B4-BE49-F238E27FC236}">
                <a16:creationId xmlns:a16="http://schemas.microsoft.com/office/drawing/2014/main" id="{1B7978A6-EB7E-2271-0146-6946A1721E69}"/>
              </a:ext>
            </a:extLst>
          </p:cNvPr>
          <p:cNvSpPr/>
          <p:nvPr/>
        </p:nvSpPr>
        <p:spPr>
          <a:xfrm>
            <a:off x="152340" y="397271"/>
            <a:ext cx="712073" cy="442911"/>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700" dirty="0">
                <a:latin typeface="fkGroteskNeue"/>
              </a:rPr>
              <a:t> </a:t>
            </a:r>
            <a:r>
              <a:rPr lang="en-SG" sz="500" dirty="0">
                <a:solidFill>
                  <a:schemeClr val="tx1"/>
                </a:solidFill>
              </a:rPr>
              <a:t>Soccer Match Statistics</a:t>
            </a:r>
          </a:p>
        </p:txBody>
      </p:sp>
      <p:sp>
        <p:nvSpPr>
          <p:cNvPr id="8" name="Rectangle: Rounded Corners 7">
            <a:extLst>
              <a:ext uri="{FF2B5EF4-FFF2-40B4-BE49-F238E27FC236}">
                <a16:creationId xmlns:a16="http://schemas.microsoft.com/office/drawing/2014/main" id="{CABC39CD-6653-3189-AD91-D4A8956B7CD7}"/>
              </a:ext>
            </a:extLst>
          </p:cNvPr>
          <p:cNvSpPr/>
          <p:nvPr/>
        </p:nvSpPr>
        <p:spPr>
          <a:xfrm>
            <a:off x="891565" y="397265"/>
            <a:ext cx="722653" cy="44291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500" dirty="0">
              <a:solidFill>
                <a:schemeClr val="tx1"/>
              </a:solidFill>
            </a:endParaRPr>
          </a:p>
        </p:txBody>
      </p:sp>
      <p:sp>
        <p:nvSpPr>
          <p:cNvPr id="10" name="Rectangle: Rounded Corners 9">
            <a:extLst>
              <a:ext uri="{FF2B5EF4-FFF2-40B4-BE49-F238E27FC236}">
                <a16:creationId xmlns:a16="http://schemas.microsoft.com/office/drawing/2014/main" id="{4BFEA616-CF81-E8B4-BDD0-0338C880F1E4}"/>
              </a:ext>
            </a:extLst>
          </p:cNvPr>
          <p:cNvSpPr/>
          <p:nvPr/>
        </p:nvSpPr>
        <p:spPr>
          <a:xfrm>
            <a:off x="1754338" y="141807"/>
            <a:ext cx="1781434" cy="2880415"/>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1801"/>
          </a:p>
        </p:txBody>
      </p:sp>
      <p:sp>
        <p:nvSpPr>
          <p:cNvPr id="11" name="TextBox 10">
            <a:extLst>
              <a:ext uri="{FF2B5EF4-FFF2-40B4-BE49-F238E27FC236}">
                <a16:creationId xmlns:a16="http://schemas.microsoft.com/office/drawing/2014/main" id="{F49518DB-7FEE-3333-85E4-6B8C40805325}"/>
              </a:ext>
            </a:extLst>
          </p:cNvPr>
          <p:cNvSpPr txBox="1"/>
          <p:nvPr/>
        </p:nvSpPr>
        <p:spPr>
          <a:xfrm>
            <a:off x="2019168" y="172926"/>
            <a:ext cx="1516609" cy="215444"/>
          </a:xfrm>
          <a:prstGeom prst="rect">
            <a:avLst/>
          </a:prstGeom>
          <a:noFill/>
        </p:spPr>
        <p:txBody>
          <a:bodyPr wrap="square" rtlCol="0">
            <a:spAutoFit/>
          </a:bodyPr>
          <a:lstStyle/>
          <a:p>
            <a:r>
              <a:rPr lang="en-SG" sz="800" dirty="0"/>
              <a:t>LLM Sentiment Analysis</a:t>
            </a:r>
          </a:p>
        </p:txBody>
      </p:sp>
      <p:sp>
        <p:nvSpPr>
          <p:cNvPr id="13" name="Rectangle: Rounded Corners 12">
            <a:extLst>
              <a:ext uri="{FF2B5EF4-FFF2-40B4-BE49-F238E27FC236}">
                <a16:creationId xmlns:a16="http://schemas.microsoft.com/office/drawing/2014/main" id="{5AE39312-60F1-E943-C3D2-90290982F9FF}"/>
              </a:ext>
            </a:extLst>
          </p:cNvPr>
          <p:cNvSpPr/>
          <p:nvPr/>
        </p:nvSpPr>
        <p:spPr>
          <a:xfrm>
            <a:off x="1864495" y="443092"/>
            <a:ext cx="1612062" cy="374473"/>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500" b="1" dirty="0">
                <a:solidFill>
                  <a:schemeClr val="tx1"/>
                </a:solidFill>
              </a:rPr>
              <a:t>LLM Sentiment Score for Upcoming Match</a:t>
            </a:r>
          </a:p>
          <a:p>
            <a:pPr algn="ctr"/>
            <a:r>
              <a:rPr lang="en-SG" sz="500" dirty="0">
                <a:solidFill>
                  <a:schemeClr val="tx1"/>
                </a:solidFill>
              </a:rPr>
              <a:t>Predict the sentiment for each team for the upcoming match based on what happened in the previous match from the commentaries</a:t>
            </a:r>
          </a:p>
        </p:txBody>
      </p:sp>
      <p:sp>
        <p:nvSpPr>
          <p:cNvPr id="26" name="Rectangle: Rounded Corners 25">
            <a:extLst>
              <a:ext uri="{FF2B5EF4-FFF2-40B4-BE49-F238E27FC236}">
                <a16:creationId xmlns:a16="http://schemas.microsoft.com/office/drawing/2014/main" id="{B01CD8C8-9805-7E7A-F5E4-C6C52F5114DC}"/>
              </a:ext>
            </a:extLst>
          </p:cNvPr>
          <p:cNvSpPr/>
          <p:nvPr/>
        </p:nvSpPr>
        <p:spPr>
          <a:xfrm>
            <a:off x="1864495" y="1004805"/>
            <a:ext cx="1612062" cy="83773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500" b="1" dirty="0">
                <a:solidFill>
                  <a:schemeClr val="tx1"/>
                </a:solidFill>
                <a:latin typeface="Aptos" panose="020B0004020202020204" pitchFamily="34" charset="0"/>
              </a:rPr>
              <a:t>Team Sentiment Ratings </a:t>
            </a:r>
          </a:p>
          <a:p>
            <a:pPr algn="ctr"/>
            <a:r>
              <a:rPr lang="en-SG" sz="700" dirty="0">
                <a:solidFill>
                  <a:schemeClr val="tx1"/>
                </a:solidFill>
                <a:latin typeface="fkGroteskNeue"/>
              </a:rPr>
              <a:t>⭐ </a:t>
            </a:r>
            <a:r>
              <a:rPr lang="en-SG" sz="500" dirty="0">
                <a:solidFill>
                  <a:schemeClr val="tx1"/>
                </a:solidFill>
              </a:rPr>
              <a:t>Sentiment Scoring  (1–5 scale) :</a:t>
            </a:r>
          </a:p>
          <a:p>
            <a:pPr algn="ctr"/>
            <a:r>
              <a:rPr lang="en-SG" sz="500" dirty="0">
                <a:solidFill>
                  <a:schemeClr val="tx1"/>
                </a:solidFill>
              </a:rPr>
              <a:t> 5 = Strongly Positive</a:t>
            </a:r>
          </a:p>
          <a:p>
            <a:pPr algn="ctr"/>
            <a:r>
              <a:rPr lang="en-SG" sz="500" dirty="0">
                <a:solidFill>
                  <a:schemeClr val="tx1"/>
                </a:solidFill>
              </a:rPr>
              <a:t>4 = Positive</a:t>
            </a:r>
          </a:p>
          <a:p>
            <a:pPr algn="ctr"/>
            <a:r>
              <a:rPr lang="en-SG" sz="500" dirty="0">
                <a:solidFill>
                  <a:schemeClr val="tx1"/>
                </a:solidFill>
              </a:rPr>
              <a:t>3 = Neutral</a:t>
            </a:r>
          </a:p>
          <a:p>
            <a:pPr algn="ctr"/>
            <a:r>
              <a:rPr lang="en-SG" sz="500" dirty="0">
                <a:solidFill>
                  <a:schemeClr val="tx1"/>
                </a:solidFill>
              </a:rPr>
              <a:t>2 = Negative</a:t>
            </a:r>
          </a:p>
          <a:p>
            <a:pPr algn="ctr"/>
            <a:r>
              <a:rPr lang="en-SG" sz="500" dirty="0">
                <a:solidFill>
                  <a:schemeClr val="tx1"/>
                </a:solidFill>
              </a:rPr>
              <a:t>1 = Strongly Negative</a:t>
            </a:r>
          </a:p>
          <a:p>
            <a:pPr algn="ctr"/>
            <a:endParaRPr lang="en-SG" sz="500" dirty="0">
              <a:solidFill>
                <a:schemeClr val="tx1"/>
              </a:solidFill>
            </a:endParaRPr>
          </a:p>
          <a:p>
            <a:pPr algn="ctr"/>
            <a:r>
              <a:rPr lang="en-SG" sz="500" dirty="0">
                <a:solidFill>
                  <a:schemeClr val="tx1"/>
                </a:solidFill>
              </a:rPr>
              <a:t>Use LLM to get sentiment ratings for each team for the upcoming match</a:t>
            </a:r>
          </a:p>
        </p:txBody>
      </p:sp>
      <p:sp>
        <p:nvSpPr>
          <p:cNvPr id="28" name="Rectangle: Rounded Corners 27">
            <a:extLst>
              <a:ext uri="{FF2B5EF4-FFF2-40B4-BE49-F238E27FC236}">
                <a16:creationId xmlns:a16="http://schemas.microsoft.com/office/drawing/2014/main" id="{691A36F5-8BE4-2176-417C-134492A91491}"/>
              </a:ext>
            </a:extLst>
          </p:cNvPr>
          <p:cNvSpPr/>
          <p:nvPr/>
        </p:nvSpPr>
        <p:spPr>
          <a:xfrm>
            <a:off x="1864495" y="2029770"/>
            <a:ext cx="1612062" cy="785356"/>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800" dirty="0">
                <a:latin typeface="fkGroteskNeue"/>
              </a:rPr>
              <a:t>🤖</a:t>
            </a:r>
            <a:r>
              <a:rPr lang="en-SG" sz="500" b="1" dirty="0">
                <a:solidFill>
                  <a:schemeClr val="tx1"/>
                </a:solidFill>
              </a:rPr>
              <a:t>LLM Sentiment Features</a:t>
            </a:r>
          </a:p>
          <a:p>
            <a:pPr algn="ctr"/>
            <a:r>
              <a:rPr lang="en-SG" sz="500" dirty="0">
                <a:solidFill>
                  <a:schemeClr val="tx1"/>
                </a:solidFill>
              </a:rPr>
              <a:t>After obtaining the sentiment rating for each of the home and away teams from the LLM, the final sentiment score is defined as the difference between the home and away sentiment ratings (home minus away)</a:t>
            </a:r>
          </a:p>
          <a:p>
            <a:pPr algn="ctr"/>
            <a:endParaRPr lang="en-SG" sz="500" b="1" dirty="0">
              <a:solidFill>
                <a:schemeClr val="tx1"/>
              </a:solidFill>
            </a:endParaRPr>
          </a:p>
          <a:p>
            <a:pPr algn="ctr"/>
            <a:r>
              <a:rPr lang="en-SG" sz="500" b="1" dirty="0">
                <a:solidFill>
                  <a:schemeClr val="tx1"/>
                </a:solidFill>
              </a:rPr>
              <a:t>Output: sentiment score as a feature</a:t>
            </a:r>
          </a:p>
        </p:txBody>
      </p:sp>
      <p:sp>
        <p:nvSpPr>
          <p:cNvPr id="45" name="TextBox 44">
            <a:extLst>
              <a:ext uri="{FF2B5EF4-FFF2-40B4-BE49-F238E27FC236}">
                <a16:creationId xmlns:a16="http://schemas.microsoft.com/office/drawing/2014/main" id="{C941C6F1-0B97-6CDB-6D74-AB6BCB03B916}"/>
              </a:ext>
            </a:extLst>
          </p:cNvPr>
          <p:cNvSpPr txBox="1"/>
          <p:nvPr/>
        </p:nvSpPr>
        <p:spPr>
          <a:xfrm>
            <a:off x="75291" y="504311"/>
            <a:ext cx="348837" cy="253467"/>
          </a:xfrm>
          <a:prstGeom prst="rect">
            <a:avLst/>
          </a:prstGeom>
          <a:noFill/>
        </p:spPr>
        <p:txBody>
          <a:bodyPr wrap="square" rtlCol="0">
            <a:spAutoFit/>
          </a:bodyPr>
          <a:lstStyle/>
          <a:p>
            <a:r>
              <a:rPr lang="en-SG" sz="1001" dirty="0">
                <a:latin typeface="fkGroteskNeue"/>
              </a:rPr>
              <a:t>⚽</a:t>
            </a:r>
            <a:endParaRPr lang="en-SG" sz="1001" dirty="0"/>
          </a:p>
        </p:txBody>
      </p:sp>
      <p:sp>
        <p:nvSpPr>
          <p:cNvPr id="46" name="TextBox 45">
            <a:extLst>
              <a:ext uri="{FF2B5EF4-FFF2-40B4-BE49-F238E27FC236}">
                <a16:creationId xmlns:a16="http://schemas.microsoft.com/office/drawing/2014/main" id="{4ADC38C4-B4E2-4ED9-F960-55BF084BCDD1}"/>
              </a:ext>
            </a:extLst>
          </p:cNvPr>
          <p:cNvSpPr txBox="1"/>
          <p:nvPr/>
        </p:nvSpPr>
        <p:spPr>
          <a:xfrm>
            <a:off x="842638" y="486720"/>
            <a:ext cx="128587" cy="246349"/>
          </a:xfrm>
          <a:prstGeom prst="rect">
            <a:avLst/>
          </a:prstGeom>
          <a:noFill/>
        </p:spPr>
        <p:txBody>
          <a:bodyPr wrap="square" rtlCol="0">
            <a:spAutoFit/>
          </a:bodyPr>
          <a:lstStyle/>
          <a:p>
            <a:r>
              <a:rPr lang="en-SG" sz="1001" i="1" dirty="0">
                <a:latin typeface="fkGroteskNeue"/>
              </a:rPr>
              <a:t>📰</a:t>
            </a:r>
            <a:endParaRPr lang="en-SG" sz="1001" dirty="0"/>
          </a:p>
        </p:txBody>
      </p:sp>
      <p:sp>
        <p:nvSpPr>
          <p:cNvPr id="47" name="TextBox 46">
            <a:extLst>
              <a:ext uri="{FF2B5EF4-FFF2-40B4-BE49-F238E27FC236}">
                <a16:creationId xmlns:a16="http://schemas.microsoft.com/office/drawing/2014/main" id="{3DD76E20-B683-E66F-B154-14572C3BC725}"/>
              </a:ext>
            </a:extLst>
          </p:cNvPr>
          <p:cNvSpPr txBox="1"/>
          <p:nvPr/>
        </p:nvSpPr>
        <p:spPr>
          <a:xfrm>
            <a:off x="1030223" y="502109"/>
            <a:ext cx="695608" cy="246221"/>
          </a:xfrm>
          <a:prstGeom prst="rect">
            <a:avLst/>
          </a:prstGeom>
          <a:noFill/>
        </p:spPr>
        <p:txBody>
          <a:bodyPr wrap="square" rtlCol="0">
            <a:spAutoFit/>
          </a:bodyPr>
          <a:lstStyle/>
          <a:p>
            <a:r>
              <a:rPr lang="en-SG" sz="500" dirty="0"/>
              <a:t>BBC Commentaries</a:t>
            </a:r>
            <a:endParaRPr lang="en-SG" sz="400" dirty="0"/>
          </a:p>
        </p:txBody>
      </p:sp>
      <p:cxnSp>
        <p:nvCxnSpPr>
          <p:cNvPr id="62" name="Straight Arrow Connector 61">
            <a:extLst>
              <a:ext uri="{FF2B5EF4-FFF2-40B4-BE49-F238E27FC236}">
                <a16:creationId xmlns:a16="http://schemas.microsoft.com/office/drawing/2014/main" id="{317D022A-E85C-2A7F-BC89-386A36E44A06}"/>
              </a:ext>
            </a:extLst>
          </p:cNvPr>
          <p:cNvCxnSpPr>
            <a:cxnSpLocks/>
            <a:endCxn id="13" idx="1"/>
          </p:cNvCxnSpPr>
          <p:nvPr/>
        </p:nvCxnSpPr>
        <p:spPr>
          <a:xfrm>
            <a:off x="1614218" y="630324"/>
            <a:ext cx="25028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6" name="Straight Arrow Connector 65">
            <a:extLst>
              <a:ext uri="{FF2B5EF4-FFF2-40B4-BE49-F238E27FC236}">
                <a16:creationId xmlns:a16="http://schemas.microsoft.com/office/drawing/2014/main" id="{A4A4F4BD-23AA-35CE-40E8-D002400CF62C}"/>
              </a:ext>
            </a:extLst>
          </p:cNvPr>
          <p:cNvCxnSpPr>
            <a:cxnSpLocks/>
            <a:stCxn id="13" idx="2"/>
            <a:endCxn id="26" idx="0"/>
          </p:cNvCxnSpPr>
          <p:nvPr/>
        </p:nvCxnSpPr>
        <p:spPr>
          <a:xfrm>
            <a:off x="2670525" y="817560"/>
            <a:ext cx="0" cy="18723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8" name="Straight Arrow Connector 67">
            <a:extLst>
              <a:ext uri="{FF2B5EF4-FFF2-40B4-BE49-F238E27FC236}">
                <a16:creationId xmlns:a16="http://schemas.microsoft.com/office/drawing/2014/main" id="{EB26568D-70C5-2130-1A27-5B2EC1CE4010}"/>
              </a:ext>
            </a:extLst>
          </p:cNvPr>
          <p:cNvCxnSpPr>
            <a:cxnSpLocks/>
            <a:stCxn id="26" idx="2"/>
            <a:endCxn id="28" idx="0"/>
          </p:cNvCxnSpPr>
          <p:nvPr/>
        </p:nvCxnSpPr>
        <p:spPr>
          <a:xfrm>
            <a:off x="2670525" y="1842535"/>
            <a:ext cx="0" cy="18723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69" name="Rectangle: Rounded Corners 68">
            <a:extLst>
              <a:ext uri="{FF2B5EF4-FFF2-40B4-BE49-F238E27FC236}">
                <a16:creationId xmlns:a16="http://schemas.microsoft.com/office/drawing/2014/main" id="{5E6E6E96-D453-AF2A-1D28-363C993D3A84}"/>
              </a:ext>
            </a:extLst>
          </p:cNvPr>
          <p:cNvSpPr/>
          <p:nvPr/>
        </p:nvSpPr>
        <p:spPr>
          <a:xfrm>
            <a:off x="72683" y="1050840"/>
            <a:ext cx="1622447" cy="3071516"/>
          </a:xfrm>
          <a:prstGeom prst="roundRect">
            <a:avLst/>
          </a:prstGeom>
          <a:solidFill>
            <a:srgbClr val="FDFEC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1801" dirty="0">
              <a:highlight>
                <a:srgbClr val="FFFF00"/>
              </a:highlight>
            </a:endParaRPr>
          </a:p>
        </p:txBody>
      </p:sp>
      <p:sp>
        <p:nvSpPr>
          <p:cNvPr id="70" name="TextBox 69">
            <a:extLst>
              <a:ext uri="{FF2B5EF4-FFF2-40B4-BE49-F238E27FC236}">
                <a16:creationId xmlns:a16="http://schemas.microsoft.com/office/drawing/2014/main" id="{7A954A24-8F70-450F-3F7E-7782423D1CD2}"/>
              </a:ext>
            </a:extLst>
          </p:cNvPr>
          <p:cNvSpPr txBox="1"/>
          <p:nvPr/>
        </p:nvSpPr>
        <p:spPr>
          <a:xfrm>
            <a:off x="249711" y="1045135"/>
            <a:ext cx="1427337" cy="215444"/>
          </a:xfrm>
          <a:prstGeom prst="rect">
            <a:avLst/>
          </a:prstGeom>
          <a:noFill/>
        </p:spPr>
        <p:txBody>
          <a:bodyPr wrap="square" rtlCol="0">
            <a:spAutoFit/>
          </a:bodyPr>
          <a:lstStyle/>
          <a:p>
            <a:r>
              <a:rPr lang="en-SG" sz="800" dirty="0"/>
              <a:t>Machine Learning Model</a:t>
            </a:r>
          </a:p>
        </p:txBody>
      </p:sp>
      <p:sp>
        <p:nvSpPr>
          <p:cNvPr id="74" name="Rectangle: Rounded Corners 73">
            <a:extLst>
              <a:ext uri="{FF2B5EF4-FFF2-40B4-BE49-F238E27FC236}">
                <a16:creationId xmlns:a16="http://schemas.microsoft.com/office/drawing/2014/main" id="{019F202F-2BAE-8078-40D0-B3AFA0929291}"/>
              </a:ext>
            </a:extLst>
          </p:cNvPr>
          <p:cNvSpPr/>
          <p:nvPr/>
        </p:nvSpPr>
        <p:spPr>
          <a:xfrm>
            <a:off x="200783" y="1511211"/>
            <a:ext cx="1353885" cy="41072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500" b="1" dirty="0">
                <a:solidFill>
                  <a:schemeClr val="tx1"/>
                </a:solidFill>
              </a:rPr>
              <a:t>Data Preprocessing</a:t>
            </a:r>
          </a:p>
          <a:p>
            <a:pPr algn="ctr"/>
            <a:r>
              <a:rPr lang="en-SG" sz="500" dirty="0">
                <a:solidFill>
                  <a:schemeClr val="tx1"/>
                </a:solidFill>
              </a:rPr>
              <a:t>Take soccer statistics difference be-tween home and away teams (home minus away) as features</a:t>
            </a:r>
          </a:p>
        </p:txBody>
      </p:sp>
      <p:sp>
        <p:nvSpPr>
          <p:cNvPr id="80" name="Rectangle: Rounded Corners 79">
            <a:extLst>
              <a:ext uri="{FF2B5EF4-FFF2-40B4-BE49-F238E27FC236}">
                <a16:creationId xmlns:a16="http://schemas.microsoft.com/office/drawing/2014/main" id="{E12C2398-98E7-F791-C2CA-7E59F3492F75}"/>
              </a:ext>
            </a:extLst>
          </p:cNvPr>
          <p:cNvSpPr/>
          <p:nvPr/>
        </p:nvSpPr>
        <p:spPr>
          <a:xfrm>
            <a:off x="200783" y="2115790"/>
            <a:ext cx="1353885" cy="6133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500" b="1" dirty="0">
                <a:solidFill>
                  <a:schemeClr val="tx1"/>
                </a:solidFill>
              </a:rPr>
              <a:t>Feature Engineering</a:t>
            </a:r>
          </a:p>
          <a:p>
            <a:pPr algn="ctr"/>
            <a:r>
              <a:rPr lang="en-SG" sz="500" dirty="0">
                <a:solidFill>
                  <a:schemeClr val="tx1"/>
                </a:solidFill>
              </a:rPr>
              <a:t>Remove highly correlated features, then use sequential forward selection  (highest accuracy)</a:t>
            </a:r>
          </a:p>
          <a:p>
            <a:pPr algn="ctr"/>
            <a:endParaRPr lang="en-SG" sz="500" dirty="0">
              <a:solidFill>
                <a:schemeClr val="tx1"/>
              </a:solidFill>
            </a:endParaRPr>
          </a:p>
          <a:p>
            <a:pPr algn="ctr"/>
            <a:r>
              <a:rPr lang="en-SG" sz="500" dirty="0">
                <a:solidFill>
                  <a:schemeClr val="tx1"/>
                </a:solidFill>
              </a:rPr>
              <a:t>For LLM-enhanced models. Add the LLM feature from LLM sentiment analysis</a:t>
            </a:r>
          </a:p>
        </p:txBody>
      </p:sp>
      <p:cxnSp>
        <p:nvCxnSpPr>
          <p:cNvPr id="108" name="Straight Connector 107">
            <a:extLst>
              <a:ext uri="{FF2B5EF4-FFF2-40B4-BE49-F238E27FC236}">
                <a16:creationId xmlns:a16="http://schemas.microsoft.com/office/drawing/2014/main" id="{C79503D7-01A8-FF6F-A7F7-E22B6ED67853}"/>
              </a:ext>
            </a:extLst>
          </p:cNvPr>
          <p:cNvCxnSpPr>
            <a:stCxn id="6" idx="2"/>
          </p:cNvCxnSpPr>
          <p:nvPr/>
        </p:nvCxnSpPr>
        <p:spPr>
          <a:xfrm flipH="1">
            <a:off x="508377" y="840181"/>
            <a:ext cx="1" cy="105061"/>
          </a:xfrm>
          <a:prstGeom prst="line">
            <a:avLst/>
          </a:prstGeom>
        </p:spPr>
        <p:style>
          <a:lnRef idx="2">
            <a:schemeClr val="dk1"/>
          </a:lnRef>
          <a:fillRef idx="0">
            <a:schemeClr val="dk1"/>
          </a:fillRef>
          <a:effectRef idx="1">
            <a:schemeClr val="dk1"/>
          </a:effectRef>
          <a:fontRef idx="minor">
            <a:schemeClr val="tx1"/>
          </a:fontRef>
        </p:style>
      </p:cxnSp>
      <p:cxnSp>
        <p:nvCxnSpPr>
          <p:cNvPr id="110" name="Straight Connector 109">
            <a:extLst>
              <a:ext uri="{FF2B5EF4-FFF2-40B4-BE49-F238E27FC236}">
                <a16:creationId xmlns:a16="http://schemas.microsoft.com/office/drawing/2014/main" id="{A5A4FFAA-7153-94E4-C1B2-E35BA83E55DB}"/>
              </a:ext>
            </a:extLst>
          </p:cNvPr>
          <p:cNvCxnSpPr/>
          <p:nvPr/>
        </p:nvCxnSpPr>
        <p:spPr>
          <a:xfrm flipH="1">
            <a:off x="214622" y="945236"/>
            <a:ext cx="293755" cy="0"/>
          </a:xfrm>
          <a:prstGeom prst="line">
            <a:avLst/>
          </a:prstGeom>
        </p:spPr>
        <p:style>
          <a:lnRef idx="2">
            <a:schemeClr val="dk1"/>
          </a:lnRef>
          <a:fillRef idx="0">
            <a:schemeClr val="dk1"/>
          </a:fillRef>
          <a:effectRef idx="1">
            <a:schemeClr val="dk1"/>
          </a:effectRef>
          <a:fontRef idx="minor">
            <a:schemeClr val="tx1"/>
          </a:fontRef>
        </p:style>
      </p:cxnSp>
      <p:cxnSp>
        <p:nvCxnSpPr>
          <p:cNvPr id="112" name="Straight Connector 111">
            <a:extLst>
              <a:ext uri="{FF2B5EF4-FFF2-40B4-BE49-F238E27FC236}">
                <a16:creationId xmlns:a16="http://schemas.microsoft.com/office/drawing/2014/main" id="{3D806934-9D93-9B16-E967-D5BFD2540564}"/>
              </a:ext>
            </a:extLst>
          </p:cNvPr>
          <p:cNvCxnSpPr>
            <a:cxnSpLocks/>
          </p:cNvCxnSpPr>
          <p:nvPr/>
        </p:nvCxnSpPr>
        <p:spPr>
          <a:xfrm>
            <a:off x="214615" y="945243"/>
            <a:ext cx="0" cy="410105"/>
          </a:xfrm>
          <a:prstGeom prst="line">
            <a:avLst/>
          </a:prstGeom>
        </p:spPr>
        <p:style>
          <a:lnRef idx="2">
            <a:schemeClr val="dk1"/>
          </a:lnRef>
          <a:fillRef idx="0">
            <a:schemeClr val="dk1"/>
          </a:fillRef>
          <a:effectRef idx="1">
            <a:schemeClr val="dk1"/>
          </a:effectRef>
          <a:fontRef idx="minor">
            <a:schemeClr val="tx1"/>
          </a:fontRef>
        </p:style>
      </p:cxnSp>
      <p:cxnSp>
        <p:nvCxnSpPr>
          <p:cNvPr id="129" name="Straight Arrow Connector 128">
            <a:extLst>
              <a:ext uri="{FF2B5EF4-FFF2-40B4-BE49-F238E27FC236}">
                <a16:creationId xmlns:a16="http://schemas.microsoft.com/office/drawing/2014/main" id="{DAF25841-3D45-DE52-4803-E47F348AE8B3}"/>
              </a:ext>
            </a:extLst>
          </p:cNvPr>
          <p:cNvCxnSpPr>
            <a:stCxn id="28" idx="1"/>
            <a:endCxn id="80" idx="3"/>
          </p:cNvCxnSpPr>
          <p:nvPr/>
        </p:nvCxnSpPr>
        <p:spPr>
          <a:xfrm flipH="1">
            <a:off x="1554661" y="2422448"/>
            <a:ext cx="30983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36" name="Straight Arrow Connector 135">
            <a:extLst>
              <a:ext uri="{FF2B5EF4-FFF2-40B4-BE49-F238E27FC236}">
                <a16:creationId xmlns:a16="http://schemas.microsoft.com/office/drawing/2014/main" id="{A38C9023-68C6-09BC-41C4-A1DC553E14CD}"/>
              </a:ext>
            </a:extLst>
          </p:cNvPr>
          <p:cNvCxnSpPr>
            <a:stCxn id="74" idx="2"/>
            <a:endCxn id="80" idx="0"/>
          </p:cNvCxnSpPr>
          <p:nvPr/>
        </p:nvCxnSpPr>
        <p:spPr>
          <a:xfrm>
            <a:off x="877718" y="1921940"/>
            <a:ext cx="0" cy="19385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38" name="Rectangle: Rounded Corners 137">
            <a:extLst>
              <a:ext uri="{FF2B5EF4-FFF2-40B4-BE49-F238E27FC236}">
                <a16:creationId xmlns:a16="http://schemas.microsoft.com/office/drawing/2014/main" id="{51566205-D2C7-6BA2-CA46-50334B8E1208}"/>
              </a:ext>
            </a:extLst>
          </p:cNvPr>
          <p:cNvSpPr/>
          <p:nvPr/>
        </p:nvSpPr>
        <p:spPr>
          <a:xfrm>
            <a:off x="200781" y="2916421"/>
            <a:ext cx="1353885" cy="41072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500" b="1" dirty="0">
                <a:solidFill>
                  <a:schemeClr val="tx1"/>
                </a:solidFill>
              </a:rPr>
              <a:t>Hyperparameter Tuning</a:t>
            </a:r>
          </a:p>
          <a:p>
            <a:pPr algn="ctr"/>
            <a:r>
              <a:rPr lang="en-SG" sz="500" dirty="0">
                <a:solidFill>
                  <a:schemeClr val="tx1"/>
                </a:solidFill>
              </a:rPr>
              <a:t>Grid search, using 5-fold cross-validation</a:t>
            </a:r>
          </a:p>
          <a:p>
            <a:pPr algn="ctr"/>
            <a:r>
              <a:rPr lang="en-SG" sz="500" dirty="0">
                <a:solidFill>
                  <a:schemeClr val="tx1"/>
                </a:solidFill>
              </a:rPr>
              <a:t>Optimise for accuracy (highest accuracy)</a:t>
            </a:r>
          </a:p>
        </p:txBody>
      </p:sp>
      <p:sp>
        <p:nvSpPr>
          <p:cNvPr id="139" name="Rectangle: Rounded Corners 138">
            <a:extLst>
              <a:ext uri="{FF2B5EF4-FFF2-40B4-BE49-F238E27FC236}">
                <a16:creationId xmlns:a16="http://schemas.microsoft.com/office/drawing/2014/main" id="{CB258262-7F80-A6EC-3FE4-CCD79DAF38EB}"/>
              </a:ext>
            </a:extLst>
          </p:cNvPr>
          <p:cNvSpPr/>
          <p:nvPr/>
        </p:nvSpPr>
        <p:spPr>
          <a:xfrm>
            <a:off x="200781" y="3508698"/>
            <a:ext cx="1353885" cy="41072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500" b="1" dirty="0">
                <a:solidFill>
                  <a:schemeClr val="tx1"/>
                </a:solidFill>
              </a:rPr>
              <a:t>Model Training</a:t>
            </a:r>
          </a:p>
          <a:p>
            <a:pPr algn="ctr"/>
            <a:r>
              <a:rPr lang="en-SG" sz="500" dirty="0">
                <a:solidFill>
                  <a:schemeClr val="tx1"/>
                </a:solidFill>
              </a:rPr>
              <a:t>Models used: Logistic Regression, SVC, Random Forest, </a:t>
            </a:r>
            <a:r>
              <a:rPr lang="en-SG" sz="500" dirty="0" err="1">
                <a:solidFill>
                  <a:schemeClr val="tx1"/>
                </a:solidFill>
              </a:rPr>
              <a:t>XGBoost</a:t>
            </a:r>
            <a:endParaRPr lang="en-SG" sz="500" dirty="0">
              <a:solidFill>
                <a:schemeClr val="tx1"/>
              </a:solidFill>
            </a:endParaRPr>
          </a:p>
        </p:txBody>
      </p:sp>
      <p:cxnSp>
        <p:nvCxnSpPr>
          <p:cNvPr id="143" name="Straight Connector 142">
            <a:extLst>
              <a:ext uri="{FF2B5EF4-FFF2-40B4-BE49-F238E27FC236}">
                <a16:creationId xmlns:a16="http://schemas.microsoft.com/office/drawing/2014/main" id="{44B6E6DE-DEFB-1F3E-7657-245E05A65CC2}"/>
              </a:ext>
            </a:extLst>
          </p:cNvPr>
          <p:cNvCxnSpPr>
            <a:cxnSpLocks/>
          </p:cNvCxnSpPr>
          <p:nvPr/>
        </p:nvCxnSpPr>
        <p:spPr>
          <a:xfrm>
            <a:off x="214623" y="1350579"/>
            <a:ext cx="676943" cy="0"/>
          </a:xfrm>
          <a:prstGeom prst="line">
            <a:avLst/>
          </a:prstGeom>
        </p:spPr>
        <p:style>
          <a:lnRef idx="2">
            <a:schemeClr val="dk1"/>
          </a:lnRef>
          <a:fillRef idx="0">
            <a:schemeClr val="dk1"/>
          </a:fillRef>
          <a:effectRef idx="1">
            <a:schemeClr val="dk1"/>
          </a:effectRef>
          <a:fontRef idx="minor">
            <a:schemeClr val="tx1"/>
          </a:fontRef>
        </p:style>
      </p:cxnSp>
      <p:cxnSp>
        <p:nvCxnSpPr>
          <p:cNvPr id="146" name="Straight Arrow Connector 145">
            <a:extLst>
              <a:ext uri="{FF2B5EF4-FFF2-40B4-BE49-F238E27FC236}">
                <a16:creationId xmlns:a16="http://schemas.microsoft.com/office/drawing/2014/main" id="{61ECF3B6-4139-D153-ECAC-D8C2F926F38F}"/>
              </a:ext>
            </a:extLst>
          </p:cNvPr>
          <p:cNvCxnSpPr>
            <a:endCxn id="74" idx="0"/>
          </p:cNvCxnSpPr>
          <p:nvPr/>
        </p:nvCxnSpPr>
        <p:spPr>
          <a:xfrm>
            <a:off x="877718" y="1350586"/>
            <a:ext cx="0" cy="16063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48" name="Straight Arrow Connector 147">
            <a:extLst>
              <a:ext uri="{FF2B5EF4-FFF2-40B4-BE49-F238E27FC236}">
                <a16:creationId xmlns:a16="http://schemas.microsoft.com/office/drawing/2014/main" id="{1F158A79-D07A-4D5A-81F2-8D32F28201DE}"/>
              </a:ext>
            </a:extLst>
          </p:cNvPr>
          <p:cNvCxnSpPr>
            <a:stCxn id="80" idx="2"/>
            <a:endCxn id="138" idx="0"/>
          </p:cNvCxnSpPr>
          <p:nvPr/>
        </p:nvCxnSpPr>
        <p:spPr>
          <a:xfrm flipH="1">
            <a:off x="877716" y="2729107"/>
            <a:ext cx="2" cy="18731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51" name="Straight Arrow Connector 150">
            <a:extLst>
              <a:ext uri="{FF2B5EF4-FFF2-40B4-BE49-F238E27FC236}">
                <a16:creationId xmlns:a16="http://schemas.microsoft.com/office/drawing/2014/main" id="{2FCB6D7B-AEC6-1F73-8324-D64E1DC7F82E}"/>
              </a:ext>
            </a:extLst>
          </p:cNvPr>
          <p:cNvCxnSpPr>
            <a:stCxn id="138" idx="2"/>
            <a:endCxn id="139" idx="0"/>
          </p:cNvCxnSpPr>
          <p:nvPr/>
        </p:nvCxnSpPr>
        <p:spPr>
          <a:xfrm>
            <a:off x="877717" y="3327159"/>
            <a:ext cx="0" cy="18154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58" name="Rectangle: Rounded Corners 157">
            <a:extLst>
              <a:ext uri="{FF2B5EF4-FFF2-40B4-BE49-F238E27FC236}">
                <a16:creationId xmlns:a16="http://schemas.microsoft.com/office/drawing/2014/main" id="{297DA516-94A5-9CFE-9B69-0D47E421F925}"/>
              </a:ext>
            </a:extLst>
          </p:cNvPr>
          <p:cNvSpPr/>
          <p:nvPr/>
        </p:nvSpPr>
        <p:spPr>
          <a:xfrm>
            <a:off x="1754338" y="3076943"/>
            <a:ext cx="1781434" cy="1045419"/>
          </a:xfrm>
          <a:prstGeom prst="roundRect">
            <a:avLst/>
          </a:prstGeom>
          <a:solidFill>
            <a:schemeClr val="accent2">
              <a:lumMod val="20000"/>
              <a:lumOff val="80000"/>
            </a:schemeClr>
          </a:solidFill>
          <a:ln>
            <a:solidFill>
              <a:schemeClr val="accent1"/>
            </a:solid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SG" sz="500" dirty="0"/>
          </a:p>
          <a:p>
            <a:pPr algn="ctr"/>
            <a:endParaRPr lang="en-SG" sz="500" dirty="0"/>
          </a:p>
        </p:txBody>
      </p:sp>
      <p:sp>
        <p:nvSpPr>
          <p:cNvPr id="159" name="TextBox 158">
            <a:extLst>
              <a:ext uri="{FF2B5EF4-FFF2-40B4-BE49-F238E27FC236}">
                <a16:creationId xmlns:a16="http://schemas.microsoft.com/office/drawing/2014/main" id="{53D0FE24-0B9C-96DE-2ACD-448E95740840}"/>
              </a:ext>
            </a:extLst>
          </p:cNvPr>
          <p:cNvSpPr txBox="1"/>
          <p:nvPr/>
        </p:nvSpPr>
        <p:spPr>
          <a:xfrm>
            <a:off x="1972812" y="3114512"/>
            <a:ext cx="1352550" cy="215444"/>
          </a:xfrm>
          <a:prstGeom prst="rect">
            <a:avLst/>
          </a:prstGeom>
          <a:noFill/>
        </p:spPr>
        <p:txBody>
          <a:bodyPr wrap="square" rtlCol="0">
            <a:spAutoFit/>
          </a:bodyPr>
          <a:lstStyle/>
          <a:p>
            <a:pPr algn="ctr"/>
            <a:r>
              <a:rPr lang="en-SG" sz="800" dirty="0"/>
              <a:t>     Betting Simulation </a:t>
            </a:r>
          </a:p>
        </p:txBody>
      </p:sp>
      <p:pic>
        <p:nvPicPr>
          <p:cNvPr id="1028" name="Picture 4" descr="Betting ">
            <a:extLst>
              <a:ext uri="{FF2B5EF4-FFF2-40B4-BE49-F238E27FC236}">
                <a16:creationId xmlns:a16="http://schemas.microsoft.com/office/drawing/2014/main" id="{04A965C6-1FC9-BB3C-4135-E2066A3CF7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1584" y="3127133"/>
            <a:ext cx="200025" cy="200025"/>
          </a:xfrm>
          <a:prstGeom prst="rect">
            <a:avLst/>
          </a:prstGeom>
          <a:noFill/>
          <a:extLst>
            <a:ext uri="{909E8E84-426E-40DD-AFC4-6F175D3DCCD1}">
              <a14:hiddenFill xmlns:a14="http://schemas.microsoft.com/office/drawing/2010/main">
                <a:solidFill>
                  <a:srgbClr val="FFFFFF"/>
                </a:solidFill>
              </a14:hiddenFill>
            </a:ext>
          </a:extLst>
        </p:spPr>
      </p:pic>
      <p:cxnSp>
        <p:nvCxnSpPr>
          <p:cNvPr id="170" name="Straight Arrow Connector 169">
            <a:extLst>
              <a:ext uri="{FF2B5EF4-FFF2-40B4-BE49-F238E27FC236}">
                <a16:creationId xmlns:a16="http://schemas.microsoft.com/office/drawing/2014/main" id="{67DDA18B-0E3F-339E-9C41-1EFA4A6149A8}"/>
              </a:ext>
            </a:extLst>
          </p:cNvPr>
          <p:cNvCxnSpPr>
            <a:cxnSpLocks/>
            <a:stCxn id="139" idx="3"/>
            <a:endCxn id="171" idx="1"/>
          </p:cNvCxnSpPr>
          <p:nvPr/>
        </p:nvCxnSpPr>
        <p:spPr>
          <a:xfrm>
            <a:off x="1554658" y="3714071"/>
            <a:ext cx="418154" cy="109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71" name="Rectangle: Rounded Corners 170">
            <a:extLst>
              <a:ext uri="{FF2B5EF4-FFF2-40B4-BE49-F238E27FC236}">
                <a16:creationId xmlns:a16="http://schemas.microsoft.com/office/drawing/2014/main" id="{6EAFA7B3-84CB-75FB-144C-D9C9CB07F377}"/>
              </a:ext>
            </a:extLst>
          </p:cNvPr>
          <p:cNvSpPr/>
          <p:nvPr/>
        </p:nvSpPr>
        <p:spPr>
          <a:xfrm>
            <a:off x="1972820" y="3460368"/>
            <a:ext cx="1353885" cy="50958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500" dirty="0">
                <a:solidFill>
                  <a:schemeClr val="tx1"/>
                </a:solidFill>
              </a:rPr>
              <a:t>Start with $10000 bankroll, bet one-eighth Kelly [12] for every model and only bet when there is a positive expected value (EV). </a:t>
            </a:r>
          </a:p>
        </p:txBody>
      </p:sp>
    </p:spTree>
    <p:extLst>
      <p:ext uri="{BB962C8B-B14F-4D97-AF65-F5344CB8AC3E}">
        <p14:creationId xmlns:p14="http://schemas.microsoft.com/office/powerpoint/2010/main" val="118667752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6951d41b-6b8e-4636-984f-012bff14ba18}" enabled="1" method="Standard" siteId="{c98a79ca-5a9a-4791-a243-f06afd67464d}" contentBits="1" removed="0"/>
</clbl:labelList>
</file>

<file path=docProps/app.xml><?xml version="1.0" encoding="utf-8"?>
<Properties xmlns="http://schemas.openxmlformats.org/officeDocument/2006/extended-properties" xmlns:vt="http://schemas.openxmlformats.org/officeDocument/2006/docPropsVTypes">
  <Template>Office Theme</Template>
  <TotalTime>194</TotalTime>
  <Words>720</Words>
  <Application>Microsoft Macintosh PowerPoint</Application>
  <PresentationFormat>Custom</PresentationFormat>
  <Paragraphs>79</Paragraphs>
  <Slides>2</Slides>
  <Notes>1</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fkGroteskNeue</vt:lpstr>
      <vt:lpstr>Aptos</vt:lpstr>
      <vt:lpstr>Aptos Display</vt:lpstr>
      <vt:lpstr>Arial</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SAMUEL</dc:creator>
  <cp:lastModifiedBy>Donghao Huang</cp:lastModifiedBy>
  <cp:revision>9</cp:revision>
  <dcterms:created xsi:type="dcterms:W3CDTF">2025-06-01T12:47:34Z</dcterms:created>
  <dcterms:modified xsi:type="dcterms:W3CDTF">2025-06-03T08:15:31Z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HeaderLocations">
    <vt:lpwstr>Office Theme:8</vt:lpwstr>
  </property>
  <property fmtid="{D5CDD505-2E9C-101B-9397-08002B2CF9AE}" pid="3" name="ClassificationContentMarkingHeaderText">
    <vt:lpwstr>SMU Classification: Restricted</vt:lpwstr>
  </property>
</Properties>
</file>