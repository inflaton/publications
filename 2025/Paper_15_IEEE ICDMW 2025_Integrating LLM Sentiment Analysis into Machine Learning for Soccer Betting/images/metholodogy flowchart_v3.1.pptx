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736"/>
    <p:restoredTop sz="94730"/>
  </p:normalViewPr>
  <p:slideViewPr>
    <p:cSldViewPr snapToGrid="0">
      <p:cViewPr varScale="1">
        <p:scale>
          <a:sx n="71" d="100"/>
          <a:sy n="71" d="100"/>
        </p:scale>
        <p:origin x="532"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F9301E-A8C2-F85F-EC7F-C59F1E6DC14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26A27C4D-3AAF-4ADC-030C-792370FD9A1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DB9ED21-B2F4-C8B9-BBAB-639FB5F980FC}"/>
              </a:ext>
            </a:extLst>
          </p:cNvPr>
          <p:cNvSpPr>
            <a:spLocks noGrp="1"/>
          </p:cNvSpPr>
          <p:nvPr>
            <p:ph type="dt" sz="half" idx="10"/>
          </p:nvPr>
        </p:nvSpPr>
        <p:spPr/>
        <p:txBody>
          <a:bodyPr/>
          <a:lstStyle/>
          <a:p>
            <a:fld id="{F894DDCF-9E84-D949-B336-2169DCDD9F8F}" type="datetimeFigureOut">
              <a:rPr lang="en-US" smtClean="0"/>
              <a:t>6/6/2025</a:t>
            </a:fld>
            <a:endParaRPr lang="en-US"/>
          </a:p>
        </p:txBody>
      </p:sp>
      <p:sp>
        <p:nvSpPr>
          <p:cNvPr id="5" name="Footer Placeholder 4">
            <a:extLst>
              <a:ext uri="{FF2B5EF4-FFF2-40B4-BE49-F238E27FC236}">
                <a16:creationId xmlns:a16="http://schemas.microsoft.com/office/drawing/2014/main" id="{DE0B6C8F-0000-9FD9-6992-ED5668FEF68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CA57AF9-CEB9-3627-CCBE-1C56E7E0CF68}"/>
              </a:ext>
            </a:extLst>
          </p:cNvPr>
          <p:cNvSpPr>
            <a:spLocks noGrp="1"/>
          </p:cNvSpPr>
          <p:nvPr>
            <p:ph type="sldNum" sz="quarter" idx="12"/>
          </p:nvPr>
        </p:nvSpPr>
        <p:spPr/>
        <p:txBody>
          <a:bodyPr/>
          <a:lstStyle/>
          <a:p>
            <a:fld id="{76D94481-B016-B243-99B4-D93ABE63ABD5}" type="slidenum">
              <a:rPr lang="en-US" smtClean="0"/>
              <a:t>‹#›</a:t>
            </a:fld>
            <a:endParaRPr lang="en-US"/>
          </a:p>
        </p:txBody>
      </p:sp>
    </p:spTree>
    <p:extLst>
      <p:ext uri="{BB962C8B-B14F-4D97-AF65-F5344CB8AC3E}">
        <p14:creationId xmlns:p14="http://schemas.microsoft.com/office/powerpoint/2010/main" val="24576764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E0AD2B-D888-1D7A-D5E7-13688909B70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31BB224-328D-749C-0EF0-F0182F901E2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72B865E-ABD2-6161-9D85-400FA6E1CD20}"/>
              </a:ext>
            </a:extLst>
          </p:cNvPr>
          <p:cNvSpPr>
            <a:spLocks noGrp="1"/>
          </p:cNvSpPr>
          <p:nvPr>
            <p:ph type="dt" sz="half" idx="10"/>
          </p:nvPr>
        </p:nvSpPr>
        <p:spPr/>
        <p:txBody>
          <a:bodyPr/>
          <a:lstStyle/>
          <a:p>
            <a:fld id="{F894DDCF-9E84-D949-B336-2169DCDD9F8F}" type="datetimeFigureOut">
              <a:rPr lang="en-US" smtClean="0"/>
              <a:t>6/6/2025</a:t>
            </a:fld>
            <a:endParaRPr lang="en-US"/>
          </a:p>
        </p:txBody>
      </p:sp>
      <p:sp>
        <p:nvSpPr>
          <p:cNvPr id="5" name="Footer Placeholder 4">
            <a:extLst>
              <a:ext uri="{FF2B5EF4-FFF2-40B4-BE49-F238E27FC236}">
                <a16:creationId xmlns:a16="http://schemas.microsoft.com/office/drawing/2014/main" id="{D091F205-AD26-8053-87E7-2A83EAF926E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A41C3C1-F048-D675-81AB-D2AB3A01B865}"/>
              </a:ext>
            </a:extLst>
          </p:cNvPr>
          <p:cNvSpPr>
            <a:spLocks noGrp="1"/>
          </p:cNvSpPr>
          <p:nvPr>
            <p:ph type="sldNum" sz="quarter" idx="12"/>
          </p:nvPr>
        </p:nvSpPr>
        <p:spPr/>
        <p:txBody>
          <a:bodyPr/>
          <a:lstStyle/>
          <a:p>
            <a:fld id="{76D94481-B016-B243-99B4-D93ABE63ABD5}" type="slidenum">
              <a:rPr lang="en-US" smtClean="0"/>
              <a:t>‹#›</a:t>
            </a:fld>
            <a:endParaRPr lang="en-US"/>
          </a:p>
        </p:txBody>
      </p:sp>
    </p:spTree>
    <p:extLst>
      <p:ext uri="{BB962C8B-B14F-4D97-AF65-F5344CB8AC3E}">
        <p14:creationId xmlns:p14="http://schemas.microsoft.com/office/powerpoint/2010/main" val="28257895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1AEB4B-9300-E3EC-3AD2-5A21E2EB68D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823373BB-86E5-CE68-04B3-16CC2EF671C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AFC1C0B-0240-0C46-D071-2DB67D03A73F}"/>
              </a:ext>
            </a:extLst>
          </p:cNvPr>
          <p:cNvSpPr>
            <a:spLocks noGrp="1"/>
          </p:cNvSpPr>
          <p:nvPr>
            <p:ph type="dt" sz="half" idx="10"/>
          </p:nvPr>
        </p:nvSpPr>
        <p:spPr/>
        <p:txBody>
          <a:bodyPr/>
          <a:lstStyle/>
          <a:p>
            <a:fld id="{F894DDCF-9E84-D949-B336-2169DCDD9F8F}" type="datetimeFigureOut">
              <a:rPr lang="en-US" smtClean="0"/>
              <a:t>6/6/2025</a:t>
            </a:fld>
            <a:endParaRPr lang="en-US"/>
          </a:p>
        </p:txBody>
      </p:sp>
      <p:sp>
        <p:nvSpPr>
          <p:cNvPr id="5" name="Footer Placeholder 4">
            <a:extLst>
              <a:ext uri="{FF2B5EF4-FFF2-40B4-BE49-F238E27FC236}">
                <a16:creationId xmlns:a16="http://schemas.microsoft.com/office/drawing/2014/main" id="{C4DD6C6C-DEF5-16E9-BB7F-CDBFE8A7092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5CB44CD-822B-6679-026E-BBD3A8861892}"/>
              </a:ext>
            </a:extLst>
          </p:cNvPr>
          <p:cNvSpPr>
            <a:spLocks noGrp="1"/>
          </p:cNvSpPr>
          <p:nvPr>
            <p:ph type="sldNum" sz="quarter" idx="12"/>
          </p:nvPr>
        </p:nvSpPr>
        <p:spPr/>
        <p:txBody>
          <a:bodyPr/>
          <a:lstStyle/>
          <a:p>
            <a:fld id="{76D94481-B016-B243-99B4-D93ABE63ABD5}" type="slidenum">
              <a:rPr lang="en-US" smtClean="0"/>
              <a:t>‹#›</a:t>
            </a:fld>
            <a:endParaRPr lang="en-US"/>
          </a:p>
        </p:txBody>
      </p:sp>
    </p:spTree>
    <p:extLst>
      <p:ext uri="{BB962C8B-B14F-4D97-AF65-F5344CB8AC3E}">
        <p14:creationId xmlns:p14="http://schemas.microsoft.com/office/powerpoint/2010/main" val="224502902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5271A3-56D7-33AB-AB4D-0460BB6E052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A64C736-5255-627E-055C-A91913F757C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E2FC6B11-71F0-8BCF-F49C-747A39FF0B8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F5DCF9E-65D6-3BF4-6A0C-ED5BAB782A96}"/>
              </a:ext>
            </a:extLst>
          </p:cNvPr>
          <p:cNvSpPr>
            <a:spLocks noGrp="1"/>
          </p:cNvSpPr>
          <p:nvPr>
            <p:ph type="dt" sz="half" idx="10"/>
          </p:nvPr>
        </p:nvSpPr>
        <p:spPr/>
        <p:txBody>
          <a:bodyPr/>
          <a:lstStyle/>
          <a:p>
            <a:fld id="{F894DDCF-9E84-D949-B336-2169DCDD9F8F}" type="datetimeFigureOut">
              <a:rPr lang="en-US" smtClean="0"/>
              <a:t>6/6/2025</a:t>
            </a:fld>
            <a:endParaRPr lang="en-US"/>
          </a:p>
        </p:txBody>
      </p:sp>
      <p:sp>
        <p:nvSpPr>
          <p:cNvPr id="6" name="Footer Placeholder 5">
            <a:extLst>
              <a:ext uri="{FF2B5EF4-FFF2-40B4-BE49-F238E27FC236}">
                <a16:creationId xmlns:a16="http://schemas.microsoft.com/office/drawing/2014/main" id="{B14773C7-82F9-F983-3847-E725C3ACD03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664C2A3-FC28-659E-6ED8-88E13AC4ACD8}"/>
              </a:ext>
            </a:extLst>
          </p:cNvPr>
          <p:cNvSpPr>
            <a:spLocks noGrp="1"/>
          </p:cNvSpPr>
          <p:nvPr>
            <p:ph type="sldNum" sz="quarter" idx="12"/>
          </p:nvPr>
        </p:nvSpPr>
        <p:spPr/>
        <p:txBody>
          <a:bodyPr/>
          <a:lstStyle/>
          <a:p>
            <a:fld id="{76D94481-B016-B243-99B4-D93ABE63ABD5}" type="slidenum">
              <a:rPr lang="en-US" smtClean="0"/>
              <a:t>‹#›</a:t>
            </a:fld>
            <a:endParaRPr lang="en-US"/>
          </a:p>
        </p:txBody>
      </p:sp>
    </p:spTree>
    <p:extLst>
      <p:ext uri="{BB962C8B-B14F-4D97-AF65-F5344CB8AC3E}">
        <p14:creationId xmlns:p14="http://schemas.microsoft.com/office/powerpoint/2010/main" val="15372470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82F29B-8BD0-DD2E-AEA3-C3913930AAB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59070BC-A576-E42D-14C6-74084E66DF1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69487AC-B2C6-C3D1-F739-2C28748BC5A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2CB983A-BDF9-DAB8-C965-CA061A91996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A3498A1-6789-88CD-8BDA-1E74BBE483F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749ACB3-2288-E943-A087-0D923C259DFB}"/>
              </a:ext>
            </a:extLst>
          </p:cNvPr>
          <p:cNvSpPr>
            <a:spLocks noGrp="1"/>
          </p:cNvSpPr>
          <p:nvPr>
            <p:ph type="dt" sz="half" idx="10"/>
          </p:nvPr>
        </p:nvSpPr>
        <p:spPr/>
        <p:txBody>
          <a:bodyPr/>
          <a:lstStyle/>
          <a:p>
            <a:fld id="{F894DDCF-9E84-D949-B336-2169DCDD9F8F}" type="datetimeFigureOut">
              <a:rPr lang="en-US" smtClean="0"/>
              <a:t>6/6/2025</a:t>
            </a:fld>
            <a:endParaRPr lang="en-US"/>
          </a:p>
        </p:txBody>
      </p:sp>
      <p:sp>
        <p:nvSpPr>
          <p:cNvPr id="8" name="Footer Placeholder 7">
            <a:extLst>
              <a:ext uri="{FF2B5EF4-FFF2-40B4-BE49-F238E27FC236}">
                <a16:creationId xmlns:a16="http://schemas.microsoft.com/office/drawing/2014/main" id="{F1F6081B-CD2F-D0D7-33A3-C90C9B434E5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1707DD7-9B32-ACF6-F3DC-36926AC8306B}"/>
              </a:ext>
            </a:extLst>
          </p:cNvPr>
          <p:cNvSpPr>
            <a:spLocks noGrp="1"/>
          </p:cNvSpPr>
          <p:nvPr>
            <p:ph type="sldNum" sz="quarter" idx="12"/>
          </p:nvPr>
        </p:nvSpPr>
        <p:spPr/>
        <p:txBody>
          <a:bodyPr/>
          <a:lstStyle/>
          <a:p>
            <a:fld id="{76D94481-B016-B243-99B4-D93ABE63ABD5}" type="slidenum">
              <a:rPr lang="en-US" smtClean="0"/>
              <a:t>‹#›</a:t>
            </a:fld>
            <a:endParaRPr lang="en-US"/>
          </a:p>
        </p:txBody>
      </p:sp>
    </p:spTree>
    <p:extLst>
      <p:ext uri="{BB962C8B-B14F-4D97-AF65-F5344CB8AC3E}">
        <p14:creationId xmlns:p14="http://schemas.microsoft.com/office/powerpoint/2010/main" val="4039574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419136-7442-AD4A-915A-1AD7F9BBB29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34C387F-DBE5-940A-8DB9-A126FFB93DA4}"/>
              </a:ext>
            </a:extLst>
          </p:cNvPr>
          <p:cNvSpPr>
            <a:spLocks noGrp="1"/>
          </p:cNvSpPr>
          <p:nvPr>
            <p:ph type="dt" sz="half" idx="10"/>
          </p:nvPr>
        </p:nvSpPr>
        <p:spPr/>
        <p:txBody>
          <a:bodyPr/>
          <a:lstStyle/>
          <a:p>
            <a:fld id="{F894DDCF-9E84-D949-B336-2169DCDD9F8F}" type="datetimeFigureOut">
              <a:rPr lang="en-US" smtClean="0"/>
              <a:t>6/6/2025</a:t>
            </a:fld>
            <a:endParaRPr lang="en-US"/>
          </a:p>
        </p:txBody>
      </p:sp>
      <p:sp>
        <p:nvSpPr>
          <p:cNvPr id="4" name="Footer Placeholder 3">
            <a:extLst>
              <a:ext uri="{FF2B5EF4-FFF2-40B4-BE49-F238E27FC236}">
                <a16:creationId xmlns:a16="http://schemas.microsoft.com/office/drawing/2014/main" id="{562465A4-8FE7-AF90-A4E1-6B1CF1CD1B81}"/>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EE71899-9FC4-7652-D8F5-4DDA2741E1C5}"/>
              </a:ext>
            </a:extLst>
          </p:cNvPr>
          <p:cNvSpPr>
            <a:spLocks noGrp="1"/>
          </p:cNvSpPr>
          <p:nvPr>
            <p:ph type="sldNum" sz="quarter" idx="12"/>
          </p:nvPr>
        </p:nvSpPr>
        <p:spPr/>
        <p:txBody>
          <a:bodyPr/>
          <a:lstStyle/>
          <a:p>
            <a:fld id="{76D94481-B016-B243-99B4-D93ABE63ABD5}" type="slidenum">
              <a:rPr lang="en-US" smtClean="0"/>
              <a:t>‹#›</a:t>
            </a:fld>
            <a:endParaRPr lang="en-US"/>
          </a:p>
        </p:txBody>
      </p:sp>
    </p:spTree>
    <p:extLst>
      <p:ext uri="{BB962C8B-B14F-4D97-AF65-F5344CB8AC3E}">
        <p14:creationId xmlns:p14="http://schemas.microsoft.com/office/powerpoint/2010/main" val="16595512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03245EB-AC8A-7817-5566-3950F82CE9AC}"/>
              </a:ext>
            </a:extLst>
          </p:cNvPr>
          <p:cNvSpPr>
            <a:spLocks noGrp="1"/>
          </p:cNvSpPr>
          <p:nvPr>
            <p:ph type="dt" sz="half" idx="10"/>
          </p:nvPr>
        </p:nvSpPr>
        <p:spPr/>
        <p:txBody>
          <a:bodyPr/>
          <a:lstStyle/>
          <a:p>
            <a:fld id="{F894DDCF-9E84-D949-B336-2169DCDD9F8F}" type="datetimeFigureOut">
              <a:rPr lang="en-US" smtClean="0"/>
              <a:t>6/6/2025</a:t>
            </a:fld>
            <a:endParaRPr lang="en-US"/>
          </a:p>
        </p:txBody>
      </p:sp>
      <p:sp>
        <p:nvSpPr>
          <p:cNvPr id="3" name="Footer Placeholder 2">
            <a:extLst>
              <a:ext uri="{FF2B5EF4-FFF2-40B4-BE49-F238E27FC236}">
                <a16:creationId xmlns:a16="http://schemas.microsoft.com/office/drawing/2014/main" id="{42C6D925-C21F-F09E-DCAB-9E42CD20B2E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E5F1946-68B9-3145-1D77-B5B04E3BCEBA}"/>
              </a:ext>
            </a:extLst>
          </p:cNvPr>
          <p:cNvSpPr>
            <a:spLocks noGrp="1"/>
          </p:cNvSpPr>
          <p:nvPr>
            <p:ph type="sldNum" sz="quarter" idx="12"/>
          </p:nvPr>
        </p:nvSpPr>
        <p:spPr/>
        <p:txBody>
          <a:bodyPr/>
          <a:lstStyle/>
          <a:p>
            <a:fld id="{76D94481-B016-B243-99B4-D93ABE63ABD5}" type="slidenum">
              <a:rPr lang="en-US" smtClean="0"/>
              <a:t>‹#›</a:t>
            </a:fld>
            <a:endParaRPr lang="en-US"/>
          </a:p>
        </p:txBody>
      </p:sp>
    </p:spTree>
    <p:extLst>
      <p:ext uri="{BB962C8B-B14F-4D97-AF65-F5344CB8AC3E}">
        <p14:creationId xmlns:p14="http://schemas.microsoft.com/office/powerpoint/2010/main" val="22779366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2956B0-8AD2-0168-605E-BE7188F4C71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3314930-3F22-59EE-6EAB-E3372AE0C2C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8FDEA93-07ED-642E-E767-1C5A588566A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ED94E84-7C09-277E-490C-A766EF016479}"/>
              </a:ext>
            </a:extLst>
          </p:cNvPr>
          <p:cNvSpPr>
            <a:spLocks noGrp="1"/>
          </p:cNvSpPr>
          <p:nvPr>
            <p:ph type="dt" sz="half" idx="10"/>
          </p:nvPr>
        </p:nvSpPr>
        <p:spPr/>
        <p:txBody>
          <a:bodyPr/>
          <a:lstStyle/>
          <a:p>
            <a:fld id="{F894DDCF-9E84-D949-B336-2169DCDD9F8F}" type="datetimeFigureOut">
              <a:rPr lang="en-US" smtClean="0"/>
              <a:t>6/6/2025</a:t>
            </a:fld>
            <a:endParaRPr lang="en-US"/>
          </a:p>
        </p:txBody>
      </p:sp>
      <p:sp>
        <p:nvSpPr>
          <p:cNvPr id="6" name="Footer Placeholder 5">
            <a:extLst>
              <a:ext uri="{FF2B5EF4-FFF2-40B4-BE49-F238E27FC236}">
                <a16:creationId xmlns:a16="http://schemas.microsoft.com/office/drawing/2014/main" id="{8DE20D52-59AD-BF99-7336-375D0A22E7F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17055A3-C3F3-E4D2-B9EC-552DEA5E8C88}"/>
              </a:ext>
            </a:extLst>
          </p:cNvPr>
          <p:cNvSpPr>
            <a:spLocks noGrp="1"/>
          </p:cNvSpPr>
          <p:nvPr>
            <p:ph type="sldNum" sz="quarter" idx="12"/>
          </p:nvPr>
        </p:nvSpPr>
        <p:spPr/>
        <p:txBody>
          <a:bodyPr/>
          <a:lstStyle/>
          <a:p>
            <a:fld id="{76D94481-B016-B243-99B4-D93ABE63ABD5}" type="slidenum">
              <a:rPr lang="en-US" smtClean="0"/>
              <a:t>‹#›</a:t>
            </a:fld>
            <a:endParaRPr lang="en-US"/>
          </a:p>
        </p:txBody>
      </p:sp>
    </p:spTree>
    <p:extLst>
      <p:ext uri="{BB962C8B-B14F-4D97-AF65-F5344CB8AC3E}">
        <p14:creationId xmlns:p14="http://schemas.microsoft.com/office/powerpoint/2010/main" val="6976259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93F7C7-97D4-2960-9505-73E4D59F59E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C6A2E3F8-0B1A-6059-C0DF-A7496E555BA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6BF8E7C-56B2-504C-133E-4F7759044AE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384FE18-8637-3E82-01F5-87DB5E1A8D46}"/>
              </a:ext>
            </a:extLst>
          </p:cNvPr>
          <p:cNvSpPr>
            <a:spLocks noGrp="1"/>
          </p:cNvSpPr>
          <p:nvPr>
            <p:ph type="dt" sz="half" idx="10"/>
          </p:nvPr>
        </p:nvSpPr>
        <p:spPr/>
        <p:txBody>
          <a:bodyPr/>
          <a:lstStyle/>
          <a:p>
            <a:fld id="{F894DDCF-9E84-D949-B336-2169DCDD9F8F}" type="datetimeFigureOut">
              <a:rPr lang="en-US" smtClean="0"/>
              <a:t>6/6/2025</a:t>
            </a:fld>
            <a:endParaRPr lang="en-US"/>
          </a:p>
        </p:txBody>
      </p:sp>
      <p:sp>
        <p:nvSpPr>
          <p:cNvPr id="6" name="Footer Placeholder 5">
            <a:extLst>
              <a:ext uri="{FF2B5EF4-FFF2-40B4-BE49-F238E27FC236}">
                <a16:creationId xmlns:a16="http://schemas.microsoft.com/office/drawing/2014/main" id="{4E9CD453-A1D8-EC45-65AA-9D6BA74111E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9C0C47A-4AC4-7076-EB4F-543F180A6F25}"/>
              </a:ext>
            </a:extLst>
          </p:cNvPr>
          <p:cNvSpPr>
            <a:spLocks noGrp="1"/>
          </p:cNvSpPr>
          <p:nvPr>
            <p:ph type="sldNum" sz="quarter" idx="12"/>
          </p:nvPr>
        </p:nvSpPr>
        <p:spPr/>
        <p:txBody>
          <a:bodyPr/>
          <a:lstStyle/>
          <a:p>
            <a:fld id="{76D94481-B016-B243-99B4-D93ABE63ABD5}" type="slidenum">
              <a:rPr lang="en-US" smtClean="0"/>
              <a:t>‹#›</a:t>
            </a:fld>
            <a:endParaRPr lang="en-US"/>
          </a:p>
        </p:txBody>
      </p:sp>
    </p:spTree>
    <p:extLst>
      <p:ext uri="{BB962C8B-B14F-4D97-AF65-F5344CB8AC3E}">
        <p14:creationId xmlns:p14="http://schemas.microsoft.com/office/powerpoint/2010/main" val="38369660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BA490D-03AC-F44E-0895-FDFA70CF4A7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70B751A-9B73-69A9-977A-E2E77033C5E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2A95B64-B408-039B-D99D-E5E176B7C670}"/>
              </a:ext>
            </a:extLst>
          </p:cNvPr>
          <p:cNvSpPr>
            <a:spLocks noGrp="1"/>
          </p:cNvSpPr>
          <p:nvPr>
            <p:ph type="dt" sz="half" idx="10"/>
          </p:nvPr>
        </p:nvSpPr>
        <p:spPr/>
        <p:txBody>
          <a:bodyPr/>
          <a:lstStyle/>
          <a:p>
            <a:fld id="{F894DDCF-9E84-D949-B336-2169DCDD9F8F}" type="datetimeFigureOut">
              <a:rPr lang="en-US" smtClean="0"/>
              <a:t>6/6/2025</a:t>
            </a:fld>
            <a:endParaRPr lang="en-US"/>
          </a:p>
        </p:txBody>
      </p:sp>
      <p:sp>
        <p:nvSpPr>
          <p:cNvPr id="5" name="Footer Placeholder 4">
            <a:extLst>
              <a:ext uri="{FF2B5EF4-FFF2-40B4-BE49-F238E27FC236}">
                <a16:creationId xmlns:a16="http://schemas.microsoft.com/office/drawing/2014/main" id="{AE8F588F-F905-C3BF-00FD-04B8902B4FC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58BC5EE-62E0-8FAC-1F12-5AC252030FD1}"/>
              </a:ext>
            </a:extLst>
          </p:cNvPr>
          <p:cNvSpPr>
            <a:spLocks noGrp="1"/>
          </p:cNvSpPr>
          <p:nvPr>
            <p:ph type="sldNum" sz="quarter" idx="12"/>
          </p:nvPr>
        </p:nvSpPr>
        <p:spPr/>
        <p:txBody>
          <a:bodyPr/>
          <a:lstStyle/>
          <a:p>
            <a:fld id="{76D94481-B016-B243-99B4-D93ABE63ABD5}" type="slidenum">
              <a:rPr lang="en-US" smtClean="0"/>
              <a:t>‹#›</a:t>
            </a:fld>
            <a:endParaRPr lang="en-US"/>
          </a:p>
        </p:txBody>
      </p:sp>
    </p:spTree>
    <p:extLst>
      <p:ext uri="{BB962C8B-B14F-4D97-AF65-F5344CB8AC3E}">
        <p14:creationId xmlns:p14="http://schemas.microsoft.com/office/powerpoint/2010/main" val="20226057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7273D2C-C77D-3711-4F3A-2F3F84320B6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6377B6A-BA3B-16FA-85CF-023CF4ACB0B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F88C8B6-3B08-7D10-B3E6-A54375609C63}"/>
              </a:ext>
            </a:extLst>
          </p:cNvPr>
          <p:cNvSpPr>
            <a:spLocks noGrp="1"/>
          </p:cNvSpPr>
          <p:nvPr>
            <p:ph type="dt" sz="half" idx="10"/>
          </p:nvPr>
        </p:nvSpPr>
        <p:spPr/>
        <p:txBody>
          <a:bodyPr/>
          <a:lstStyle/>
          <a:p>
            <a:fld id="{F894DDCF-9E84-D949-B336-2169DCDD9F8F}" type="datetimeFigureOut">
              <a:rPr lang="en-US" smtClean="0"/>
              <a:t>6/6/2025</a:t>
            </a:fld>
            <a:endParaRPr lang="en-US"/>
          </a:p>
        </p:txBody>
      </p:sp>
      <p:sp>
        <p:nvSpPr>
          <p:cNvPr id="5" name="Footer Placeholder 4">
            <a:extLst>
              <a:ext uri="{FF2B5EF4-FFF2-40B4-BE49-F238E27FC236}">
                <a16:creationId xmlns:a16="http://schemas.microsoft.com/office/drawing/2014/main" id="{45CA3E3F-D450-4545-7CBF-BA6B10F41D2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C758279-544B-EB5B-A2DA-D55AE007FA4E}"/>
              </a:ext>
            </a:extLst>
          </p:cNvPr>
          <p:cNvSpPr>
            <a:spLocks noGrp="1"/>
          </p:cNvSpPr>
          <p:nvPr>
            <p:ph type="sldNum" sz="quarter" idx="12"/>
          </p:nvPr>
        </p:nvSpPr>
        <p:spPr/>
        <p:txBody>
          <a:bodyPr/>
          <a:lstStyle/>
          <a:p>
            <a:fld id="{76D94481-B016-B243-99B4-D93ABE63ABD5}" type="slidenum">
              <a:rPr lang="en-US" smtClean="0"/>
              <a:t>‹#›</a:t>
            </a:fld>
            <a:endParaRPr lang="en-US"/>
          </a:p>
        </p:txBody>
      </p:sp>
    </p:spTree>
    <p:extLst>
      <p:ext uri="{BB962C8B-B14F-4D97-AF65-F5344CB8AC3E}">
        <p14:creationId xmlns:p14="http://schemas.microsoft.com/office/powerpoint/2010/main" val="10218200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C4315F7-5183-4237-58A1-4A2CF4043BC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43FB21B-3262-D78B-697E-BA73ACD97E4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E4F2A6F-729A-118C-ACAF-0DED9444A06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894DDCF-9E84-D949-B336-2169DCDD9F8F}" type="datetimeFigureOut">
              <a:rPr lang="en-US" smtClean="0"/>
              <a:t>6/6/2025</a:t>
            </a:fld>
            <a:endParaRPr lang="en-US"/>
          </a:p>
        </p:txBody>
      </p:sp>
      <p:sp>
        <p:nvSpPr>
          <p:cNvPr id="5" name="Footer Placeholder 4">
            <a:extLst>
              <a:ext uri="{FF2B5EF4-FFF2-40B4-BE49-F238E27FC236}">
                <a16:creationId xmlns:a16="http://schemas.microsoft.com/office/drawing/2014/main" id="{E4AF71A1-B29D-4FA0-38D3-F595DC21A36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E026EA5C-DC94-90CD-790D-F65B002F7D3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6D94481-B016-B243-99B4-D93ABE63ABD5}" type="slidenum">
              <a:rPr lang="en-US" smtClean="0"/>
              <a:t>‹#›</a:t>
            </a:fld>
            <a:endParaRPr lang="en-US"/>
          </a:p>
        </p:txBody>
      </p:sp>
      <p:sp>
        <p:nvSpPr>
          <p:cNvPr id="8" name="TextBox 7">
            <a:extLst>
              <a:ext uri="{FF2B5EF4-FFF2-40B4-BE49-F238E27FC236}">
                <a16:creationId xmlns:a16="http://schemas.microsoft.com/office/drawing/2014/main" id="{D46CAA68-FDB3-6E6A-8EE4-EF29D09182C7}"/>
              </a:ext>
            </a:extLst>
          </p:cNvPr>
          <p:cNvSpPr txBox="1"/>
          <p:nvPr userDrawn="1">
            <p:extLst>
              <p:ext uri="{1162E1C5-73C7-4A58-AE30-91384D911F3F}">
                <p184:classification xmlns:p184="http://schemas.microsoft.com/office/powerpoint/2018/4/main" val="hdr"/>
              </p:ext>
            </p:extLst>
          </p:nvPr>
        </p:nvSpPr>
        <p:spPr>
          <a:xfrm>
            <a:off x="5480050" y="63500"/>
            <a:ext cx="1254125" cy="121920"/>
          </a:xfrm>
          <a:prstGeom prst="rect">
            <a:avLst/>
          </a:prstGeom>
        </p:spPr>
        <p:txBody>
          <a:bodyPr horzOverflow="overflow" lIns="0" tIns="0" rIns="0" bIns="0">
            <a:spAutoFit/>
          </a:bodyPr>
          <a:lstStyle/>
          <a:p>
            <a:pPr algn="l"/>
            <a:r>
              <a:rPr lang="en-US" sz="800">
                <a:solidFill>
                  <a:srgbClr val="000000">
                    <a:alpha val="50000"/>
                  </a:srgbClr>
                </a:solidFill>
                <a:latin typeface="Calibri" panose="020F0502020204030204" pitchFamily="34" charset="0"/>
                <a:cs typeface="Calibri" panose="020F0502020204030204" pitchFamily="34" charset="0"/>
              </a:rPr>
              <a:t>SMU Classification: Restricted</a:t>
            </a:r>
          </a:p>
        </p:txBody>
      </p:sp>
    </p:spTree>
    <p:extLst>
      <p:ext uri="{BB962C8B-B14F-4D97-AF65-F5344CB8AC3E}">
        <p14:creationId xmlns:p14="http://schemas.microsoft.com/office/powerpoint/2010/main" val="182722089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E38332B3-EA54-BF36-A8C2-213ED59A0D17}"/>
              </a:ext>
            </a:extLst>
          </p:cNvPr>
          <p:cNvGrpSpPr/>
          <p:nvPr/>
        </p:nvGrpSpPr>
        <p:grpSpPr>
          <a:xfrm>
            <a:off x="1021976" y="1127486"/>
            <a:ext cx="5713750" cy="3435653"/>
            <a:chOff x="1021976" y="1127486"/>
            <a:chExt cx="5713750" cy="3435653"/>
          </a:xfrm>
        </p:grpSpPr>
        <p:sp>
          <p:nvSpPr>
            <p:cNvPr id="8" name="Rectangle: Rounded Corners 9">
              <a:extLst>
                <a:ext uri="{FF2B5EF4-FFF2-40B4-BE49-F238E27FC236}">
                  <a16:creationId xmlns:a16="http://schemas.microsoft.com/office/drawing/2014/main" id="{B5FD84DC-3EC2-AAAB-10C6-1F777DE39955}"/>
                </a:ext>
              </a:extLst>
            </p:cNvPr>
            <p:cNvSpPr/>
            <p:nvPr/>
          </p:nvSpPr>
          <p:spPr>
            <a:xfrm>
              <a:off x="1021976" y="2033200"/>
              <a:ext cx="1881510" cy="2529939"/>
            </a:xfrm>
            <a:prstGeom prst="roundRect">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sz="1801"/>
            </a:p>
          </p:txBody>
        </p:sp>
        <p:sp>
          <p:nvSpPr>
            <p:cNvPr id="12" name="Rectangle: Rounded Corners 27">
              <a:extLst>
                <a:ext uri="{FF2B5EF4-FFF2-40B4-BE49-F238E27FC236}">
                  <a16:creationId xmlns:a16="http://schemas.microsoft.com/office/drawing/2014/main" id="{BCA70529-3306-00B1-12A3-719F142921AD}"/>
                </a:ext>
              </a:extLst>
            </p:cNvPr>
            <p:cNvSpPr/>
            <p:nvPr/>
          </p:nvSpPr>
          <p:spPr>
            <a:xfrm>
              <a:off x="1162449" y="3697978"/>
              <a:ext cx="1603520" cy="785356"/>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sz="600" b="1" dirty="0">
                  <a:solidFill>
                    <a:schemeClr val="tx1"/>
                  </a:solidFill>
                </a:rPr>
                <a:t>LLM Sentiment Features</a:t>
              </a:r>
            </a:p>
            <a:p>
              <a:pPr algn="ctr"/>
              <a:r>
                <a:rPr lang="en-SG" sz="500" dirty="0">
                  <a:solidFill>
                    <a:schemeClr val="tx1"/>
                  </a:solidFill>
                </a:rPr>
                <a:t>After obtaining the sentiment rating for each of the home and away teams from the LLM, the final sentiment score is defined as the difference between the home and away sentiment ratings (home minus away)</a:t>
              </a:r>
            </a:p>
            <a:p>
              <a:pPr algn="ctr"/>
              <a:endParaRPr lang="en-SG" sz="500" b="1" dirty="0">
                <a:solidFill>
                  <a:schemeClr val="tx1"/>
                </a:solidFill>
              </a:endParaRPr>
            </a:p>
            <a:p>
              <a:pPr algn="ctr"/>
              <a:r>
                <a:rPr lang="en-SG" sz="500" b="1" dirty="0">
                  <a:solidFill>
                    <a:schemeClr val="tx1"/>
                  </a:solidFill>
                </a:rPr>
                <a:t>Output: sentiment score as a feature</a:t>
              </a:r>
            </a:p>
          </p:txBody>
        </p:sp>
        <p:cxnSp>
          <p:nvCxnSpPr>
            <p:cNvPr id="18" name="Straight Arrow Connector 17">
              <a:extLst>
                <a:ext uri="{FF2B5EF4-FFF2-40B4-BE49-F238E27FC236}">
                  <a16:creationId xmlns:a16="http://schemas.microsoft.com/office/drawing/2014/main" id="{D77801FF-929F-29C7-C704-E5586CE62ACA}"/>
                </a:ext>
              </a:extLst>
            </p:cNvPr>
            <p:cNvCxnSpPr>
              <a:cxnSpLocks/>
            </p:cNvCxnSpPr>
            <p:nvPr/>
          </p:nvCxnSpPr>
          <p:spPr>
            <a:xfrm>
              <a:off x="1954622" y="3510750"/>
              <a:ext cx="4271" cy="187228"/>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19" name="Rectangle: Rounded Corners 68">
              <a:extLst>
                <a:ext uri="{FF2B5EF4-FFF2-40B4-BE49-F238E27FC236}">
                  <a16:creationId xmlns:a16="http://schemas.microsoft.com/office/drawing/2014/main" id="{35351C36-7BC6-0E43-5FEE-0D7ABC465A72}"/>
                </a:ext>
              </a:extLst>
            </p:cNvPr>
            <p:cNvSpPr/>
            <p:nvPr/>
          </p:nvSpPr>
          <p:spPr>
            <a:xfrm>
              <a:off x="3113896" y="1144592"/>
              <a:ext cx="1622447" cy="3418547"/>
            </a:xfrm>
            <a:prstGeom prst="roundRect">
              <a:avLst/>
            </a:prstGeom>
            <a:solidFill>
              <a:srgbClr val="FDFEC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sz="1801" dirty="0">
                <a:highlight>
                  <a:srgbClr val="FFFF00"/>
                </a:highlight>
              </a:endParaRPr>
            </a:p>
          </p:txBody>
        </p:sp>
        <p:sp>
          <p:nvSpPr>
            <p:cNvPr id="20" name="TextBox 19">
              <a:extLst>
                <a:ext uri="{FF2B5EF4-FFF2-40B4-BE49-F238E27FC236}">
                  <a16:creationId xmlns:a16="http://schemas.microsoft.com/office/drawing/2014/main" id="{E0981C2C-6EC2-D387-D108-1AE7EB2BD0ED}"/>
                </a:ext>
              </a:extLst>
            </p:cNvPr>
            <p:cNvSpPr txBox="1"/>
            <p:nvPr/>
          </p:nvSpPr>
          <p:spPr>
            <a:xfrm>
              <a:off x="3136797" y="1127486"/>
              <a:ext cx="1530891" cy="338554"/>
            </a:xfrm>
            <a:prstGeom prst="rect">
              <a:avLst/>
            </a:prstGeom>
            <a:noFill/>
          </p:spPr>
          <p:txBody>
            <a:bodyPr wrap="square" rtlCol="0">
              <a:spAutoFit/>
            </a:bodyPr>
            <a:lstStyle/>
            <a:p>
              <a:pPr algn="ctr"/>
              <a:r>
                <a:rPr lang="en-SG" sz="800" b="1" dirty="0"/>
                <a:t>(c) Machine Learning Models &amp; Learning Pipeline</a:t>
              </a:r>
            </a:p>
          </p:txBody>
        </p:sp>
        <p:cxnSp>
          <p:nvCxnSpPr>
            <p:cNvPr id="23" name="Straight Arrow Connector 22">
              <a:extLst>
                <a:ext uri="{FF2B5EF4-FFF2-40B4-BE49-F238E27FC236}">
                  <a16:creationId xmlns:a16="http://schemas.microsoft.com/office/drawing/2014/main" id="{5A94FDC9-62D7-04E7-F3F8-7FB14A2FFDEE}"/>
                </a:ext>
              </a:extLst>
            </p:cNvPr>
            <p:cNvCxnSpPr>
              <a:cxnSpLocks/>
              <a:stCxn id="12" idx="3"/>
              <a:endCxn id="22" idx="1"/>
            </p:cNvCxnSpPr>
            <p:nvPr/>
          </p:nvCxnSpPr>
          <p:spPr>
            <a:xfrm flipV="1">
              <a:off x="2765969" y="2187666"/>
              <a:ext cx="487057" cy="1902990"/>
            </a:xfrm>
            <a:prstGeom prst="bentConnector3">
              <a:avLst>
                <a:gd name="adj1" fmla="val 50000"/>
              </a:avLst>
            </a:prstGeom>
            <a:ln>
              <a:tailEnd type="triangle"/>
            </a:ln>
          </p:spPr>
          <p:style>
            <a:lnRef idx="2">
              <a:schemeClr val="dk1"/>
            </a:lnRef>
            <a:fillRef idx="0">
              <a:schemeClr val="dk1"/>
            </a:fillRef>
            <a:effectRef idx="1">
              <a:schemeClr val="dk1"/>
            </a:effectRef>
            <a:fontRef idx="minor">
              <a:schemeClr val="tx1"/>
            </a:fontRef>
          </p:style>
        </p:cxnSp>
        <p:cxnSp>
          <p:nvCxnSpPr>
            <p:cNvPr id="24" name="Straight Arrow Connector 23">
              <a:extLst>
                <a:ext uri="{FF2B5EF4-FFF2-40B4-BE49-F238E27FC236}">
                  <a16:creationId xmlns:a16="http://schemas.microsoft.com/office/drawing/2014/main" id="{A0B5819E-8EF5-3A12-29FD-EB7B71A706C7}"/>
                </a:ext>
              </a:extLst>
            </p:cNvPr>
            <p:cNvCxnSpPr>
              <a:cxnSpLocks/>
              <a:endCxn id="22" idx="0"/>
            </p:cNvCxnSpPr>
            <p:nvPr/>
          </p:nvCxnSpPr>
          <p:spPr>
            <a:xfrm>
              <a:off x="3929969" y="1756339"/>
              <a:ext cx="0" cy="193851"/>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27" name="Straight Arrow Connector 26">
              <a:extLst>
                <a:ext uri="{FF2B5EF4-FFF2-40B4-BE49-F238E27FC236}">
                  <a16:creationId xmlns:a16="http://schemas.microsoft.com/office/drawing/2014/main" id="{BCB61276-39BE-FE7B-95A8-DF21846F41B0}"/>
                </a:ext>
              </a:extLst>
            </p:cNvPr>
            <p:cNvCxnSpPr>
              <a:cxnSpLocks/>
              <a:endCxn id="25" idx="0"/>
            </p:cNvCxnSpPr>
            <p:nvPr/>
          </p:nvCxnSpPr>
          <p:spPr>
            <a:xfrm flipH="1">
              <a:off x="3929967" y="2343771"/>
              <a:ext cx="2" cy="187313"/>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28" name="Straight Arrow Connector 27">
              <a:extLst>
                <a:ext uri="{FF2B5EF4-FFF2-40B4-BE49-F238E27FC236}">
                  <a16:creationId xmlns:a16="http://schemas.microsoft.com/office/drawing/2014/main" id="{F79CC48B-969C-057F-05F1-2950742A58B6}"/>
                </a:ext>
              </a:extLst>
            </p:cNvPr>
            <p:cNvCxnSpPr>
              <a:cxnSpLocks/>
              <a:endCxn id="26" idx="0"/>
            </p:cNvCxnSpPr>
            <p:nvPr/>
          </p:nvCxnSpPr>
          <p:spPr>
            <a:xfrm>
              <a:off x="3929967" y="2778783"/>
              <a:ext cx="0" cy="265165"/>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4" name="Rectangle: Rounded Corners 3">
              <a:extLst>
                <a:ext uri="{FF2B5EF4-FFF2-40B4-BE49-F238E27FC236}">
                  <a16:creationId xmlns:a16="http://schemas.microsoft.com/office/drawing/2014/main" id="{EB4F9F9C-51F5-2290-60D8-1F1877B2B3BE}"/>
                </a:ext>
              </a:extLst>
            </p:cNvPr>
            <p:cNvSpPr/>
            <p:nvPr/>
          </p:nvSpPr>
          <p:spPr>
            <a:xfrm>
              <a:off x="1109882" y="1144593"/>
              <a:ext cx="1622447" cy="747530"/>
            </a:xfrm>
            <a:prstGeom prst="roundRect">
              <a:avLst/>
            </a:prstGeom>
            <a:solidFill>
              <a:schemeClr val="accent1">
                <a:lumMod val="20000"/>
                <a:lumOff val="80000"/>
              </a:schemeClr>
            </a:solidFill>
            <a:ln>
              <a:solidFill>
                <a:schemeClr val="accent1"/>
              </a:solidFill>
            </a:ln>
          </p:spPr>
          <p:style>
            <a:lnRef idx="1">
              <a:schemeClr val="accent4"/>
            </a:lnRef>
            <a:fillRef idx="2">
              <a:schemeClr val="accent4"/>
            </a:fillRef>
            <a:effectRef idx="1">
              <a:schemeClr val="accent4"/>
            </a:effectRef>
            <a:fontRef idx="minor">
              <a:schemeClr val="dk1"/>
            </a:fontRef>
          </p:style>
          <p:txBody>
            <a:bodyPr rtlCol="0" anchor="ctr"/>
            <a:lstStyle/>
            <a:p>
              <a:pPr algn="ctr"/>
              <a:endParaRPr lang="en-SG" sz="748" dirty="0"/>
            </a:p>
          </p:txBody>
        </p:sp>
        <p:sp>
          <p:nvSpPr>
            <p:cNvPr id="5" name="TextBox 4">
              <a:extLst>
                <a:ext uri="{FF2B5EF4-FFF2-40B4-BE49-F238E27FC236}">
                  <a16:creationId xmlns:a16="http://schemas.microsoft.com/office/drawing/2014/main" id="{2DD4EACD-3BC9-E96F-C403-3CCD4ACA046A}"/>
                </a:ext>
              </a:extLst>
            </p:cNvPr>
            <p:cNvSpPr txBox="1"/>
            <p:nvPr/>
          </p:nvSpPr>
          <p:spPr>
            <a:xfrm>
              <a:off x="1163368" y="1154217"/>
              <a:ext cx="1488044" cy="215444"/>
            </a:xfrm>
            <a:prstGeom prst="rect">
              <a:avLst/>
            </a:prstGeom>
            <a:noFill/>
          </p:spPr>
          <p:txBody>
            <a:bodyPr wrap="square" rtlCol="0">
              <a:spAutoFit/>
            </a:bodyPr>
            <a:lstStyle/>
            <a:p>
              <a:pPr algn="ctr"/>
              <a:r>
                <a:rPr lang="en-SG" sz="800" b="1" dirty="0"/>
                <a:t>(a) Data Collection</a:t>
              </a:r>
            </a:p>
          </p:txBody>
        </p:sp>
        <p:grpSp>
          <p:nvGrpSpPr>
            <p:cNvPr id="46" name="Group 45">
              <a:extLst>
                <a:ext uri="{FF2B5EF4-FFF2-40B4-BE49-F238E27FC236}">
                  <a16:creationId xmlns:a16="http://schemas.microsoft.com/office/drawing/2014/main" id="{09902588-0CB1-A469-1B93-5E6AC8B1D934}"/>
                </a:ext>
              </a:extLst>
            </p:cNvPr>
            <p:cNvGrpSpPr/>
            <p:nvPr/>
          </p:nvGrpSpPr>
          <p:grpSpPr>
            <a:xfrm>
              <a:off x="1113522" y="1424670"/>
              <a:ext cx="1582990" cy="400568"/>
              <a:chOff x="1113522" y="1378668"/>
              <a:chExt cx="1582990" cy="416330"/>
            </a:xfrm>
          </p:grpSpPr>
          <p:grpSp>
            <p:nvGrpSpPr>
              <p:cNvPr id="42" name="Group 41">
                <a:extLst>
                  <a:ext uri="{FF2B5EF4-FFF2-40B4-BE49-F238E27FC236}">
                    <a16:creationId xmlns:a16="http://schemas.microsoft.com/office/drawing/2014/main" id="{53B010C6-4146-81E1-FD85-B3C8B2CB9460}"/>
                  </a:ext>
                </a:extLst>
              </p:cNvPr>
              <p:cNvGrpSpPr/>
              <p:nvPr/>
            </p:nvGrpSpPr>
            <p:grpSpPr>
              <a:xfrm>
                <a:off x="1113522" y="1378668"/>
                <a:ext cx="883193" cy="410016"/>
                <a:chOff x="1831992" y="1416003"/>
                <a:chExt cx="883193" cy="410016"/>
              </a:xfrm>
            </p:grpSpPr>
            <p:sp>
              <p:nvSpPr>
                <p:cNvPr id="7" name="Rectangle: Rounded Corners 7">
                  <a:extLst>
                    <a:ext uri="{FF2B5EF4-FFF2-40B4-BE49-F238E27FC236}">
                      <a16:creationId xmlns:a16="http://schemas.microsoft.com/office/drawing/2014/main" id="{A37E7746-9350-63F2-B13F-C69262A20C6A}"/>
                    </a:ext>
                  </a:extLst>
                </p:cNvPr>
                <p:cNvSpPr/>
                <p:nvPr/>
              </p:nvSpPr>
              <p:spPr>
                <a:xfrm>
                  <a:off x="1880919" y="1416003"/>
                  <a:ext cx="722653" cy="410016"/>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sz="500" dirty="0">
                    <a:solidFill>
                      <a:schemeClr val="tx1"/>
                    </a:solidFill>
                  </a:endParaRPr>
                </a:p>
              </p:txBody>
            </p:sp>
            <p:sp>
              <p:nvSpPr>
                <p:cNvPr id="14" name="TextBox 13">
                  <a:extLst>
                    <a:ext uri="{FF2B5EF4-FFF2-40B4-BE49-F238E27FC236}">
                      <a16:creationId xmlns:a16="http://schemas.microsoft.com/office/drawing/2014/main" id="{09DCD758-896A-E738-808A-F2353A8D993D}"/>
                    </a:ext>
                  </a:extLst>
                </p:cNvPr>
                <p:cNvSpPr txBox="1"/>
                <p:nvPr/>
              </p:nvSpPr>
              <p:spPr>
                <a:xfrm>
                  <a:off x="1831992" y="1505458"/>
                  <a:ext cx="128587" cy="246349"/>
                </a:xfrm>
                <a:prstGeom prst="rect">
                  <a:avLst/>
                </a:prstGeom>
                <a:noFill/>
              </p:spPr>
              <p:txBody>
                <a:bodyPr wrap="square" rtlCol="0">
                  <a:spAutoFit/>
                </a:bodyPr>
                <a:lstStyle/>
                <a:p>
                  <a:r>
                    <a:rPr lang="en-SG" sz="1001" i="1" dirty="0">
                      <a:latin typeface="fkGroteskNeue"/>
                    </a:rPr>
                    <a:t>📰</a:t>
                  </a:r>
                  <a:endParaRPr lang="en-SG" sz="1001" dirty="0"/>
                </a:p>
              </p:txBody>
            </p:sp>
            <p:sp>
              <p:nvSpPr>
                <p:cNvPr id="15" name="TextBox 14">
                  <a:extLst>
                    <a:ext uri="{FF2B5EF4-FFF2-40B4-BE49-F238E27FC236}">
                      <a16:creationId xmlns:a16="http://schemas.microsoft.com/office/drawing/2014/main" id="{0A151E01-A4F1-649D-5941-D05E7F4C01B6}"/>
                    </a:ext>
                  </a:extLst>
                </p:cNvPr>
                <p:cNvSpPr txBox="1"/>
                <p:nvPr/>
              </p:nvSpPr>
              <p:spPr>
                <a:xfrm>
                  <a:off x="2019577" y="1520847"/>
                  <a:ext cx="695608" cy="246221"/>
                </a:xfrm>
                <a:prstGeom prst="rect">
                  <a:avLst/>
                </a:prstGeom>
                <a:noFill/>
              </p:spPr>
              <p:txBody>
                <a:bodyPr wrap="square" rtlCol="0">
                  <a:spAutoFit/>
                </a:bodyPr>
                <a:lstStyle/>
                <a:p>
                  <a:r>
                    <a:rPr lang="en-SG" sz="500" dirty="0"/>
                    <a:t>BBC Commentaries</a:t>
                  </a:r>
                  <a:endParaRPr lang="en-SG" sz="400" dirty="0"/>
                </a:p>
              </p:txBody>
            </p:sp>
          </p:grpSp>
          <p:grpSp>
            <p:nvGrpSpPr>
              <p:cNvPr id="43" name="Group 42">
                <a:extLst>
                  <a:ext uri="{FF2B5EF4-FFF2-40B4-BE49-F238E27FC236}">
                    <a16:creationId xmlns:a16="http://schemas.microsoft.com/office/drawing/2014/main" id="{BA264A56-991A-E358-4CB6-FF1051769F58}"/>
                  </a:ext>
                </a:extLst>
              </p:cNvPr>
              <p:cNvGrpSpPr/>
              <p:nvPr/>
            </p:nvGrpSpPr>
            <p:grpSpPr>
              <a:xfrm>
                <a:off x="1907390" y="1384981"/>
                <a:ext cx="789122" cy="410017"/>
                <a:chOff x="1064645" y="1416009"/>
                <a:chExt cx="789122" cy="410017"/>
              </a:xfrm>
            </p:grpSpPr>
            <p:sp>
              <p:nvSpPr>
                <p:cNvPr id="6" name="Rectangle: Rounded Corners 5">
                  <a:extLst>
                    <a:ext uri="{FF2B5EF4-FFF2-40B4-BE49-F238E27FC236}">
                      <a16:creationId xmlns:a16="http://schemas.microsoft.com/office/drawing/2014/main" id="{E590239E-D308-6C34-D196-DF4F5DDCE5E7}"/>
                    </a:ext>
                  </a:extLst>
                </p:cNvPr>
                <p:cNvSpPr/>
                <p:nvPr/>
              </p:nvSpPr>
              <p:spPr>
                <a:xfrm>
                  <a:off x="1141694" y="1416009"/>
                  <a:ext cx="712073" cy="410017"/>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sz="700" dirty="0">
                      <a:latin typeface="fkGroteskNeue"/>
                    </a:rPr>
                    <a:t> </a:t>
                  </a:r>
                  <a:r>
                    <a:rPr lang="en-SG" sz="500" dirty="0">
                      <a:solidFill>
                        <a:schemeClr val="tx1"/>
                      </a:solidFill>
                    </a:rPr>
                    <a:t>Soccer Match Statistics</a:t>
                  </a:r>
                </a:p>
              </p:txBody>
            </p:sp>
            <p:sp>
              <p:nvSpPr>
                <p:cNvPr id="13" name="TextBox 12">
                  <a:extLst>
                    <a:ext uri="{FF2B5EF4-FFF2-40B4-BE49-F238E27FC236}">
                      <a16:creationId xmlns:a16="http://schemas.microsoft.com/office/drawing/2014/main" id="{D2F485F7-188C-DD1F-32FC-F4BE246FEA42}"/>
                    </a:ext>
                  </a:extLst>
                </p:cNvPr>
                <p:cNvSpPr txBox="1"/>
                <p:nvPr/>
              </p:nvSpPr>
              <p:spPr>
                <a:xfrm>
                  <a:off x="1064645" y="1523049"/>
                  <a:ext cx="348837" cy="253467"/>
                </a:xfrm>
                <a:prstGeom prst="rect">
                  <a:avLst/>
                </a:prstGeom>
                <a:noFill/>
              </p:spPr>
              <p:txBody>
                <a:bodyPr wrap="square" rtlCol="0">
                  <a:spAutoFit/>
                </a:bodyPr>
                <a:lstStyle/>
                <a:p>
                  <a:r>
                    <a:rPr lang="en-SG" sz="1001" dirty="0">
                      <a:latin typeface="fkGroteskNeue"/>
                    </a:rPr>
                    <a:t>⚽</a:t>
                  </a:r>
                  <a:endParaRPr lang="en-SG" sz="1001" dirty="0"/>
                </a:p>
              </p:txBody>
            </p:sp>
          </p:grpSp>
        </p:grpSp>
        <p:cxnSp>
          <p:nvCxnSpPr>
            <p:cNvPr id="16" name="Straight Arrow Connector 15">
              <a:extLst>
                <a:ext uri="{FF2B5EF4-FFF2-40B4-BE49-F238E27FC236}">
                  <a16:creationId xmlns:a16="http://schemas.microsoft.com/office/drawing/2014/main" id="{8B28CABE-F149-767D-351D-36431BB60D1A}"/>
                </a:ext>
              </a:extLst>
            </p:cNvPr>
            <p:cNvCxnSpPr>
              <a:cxnSpLocks/>
              <a:stCxn id="7" idx="2"/>
              <a:endCxn id="10" idx="1"/>
            </p:cNvCxnSpPr>
            <p:nvPr/>
          </p:nvCxnSpPr>
          <p:spPr>
            <a:xfrm rot="5400000">
              <a:off x="1026281" y="1955330"/>
              <a:ext cx="633662" cy="361328"/>
            </a:xfrm>
            <a:prstGeom prst="bentConnector4">
              <a:avLst>
                <a:gd name="adj1" fmla="val 22248"/>
                <a:gd name="adj2" fmla="val 163267"/>
              </a:avLst>
            </a:prstGeom>
            <a:ln>
              <a:tailEnd type="triangle"/>
            </a:ln>
          </p:spPr>
          <p:style>
            <a:lnRef idx="2">
              <a:schemeClr val="dk1"/>
            </a:lnRef>
            <a:fillRef idx="0">
              <a:schemeClr val="dk1"/>
            </a:fillRef>
            <a:effectRef idx="1">
              <a:schemeClr val="dk1"/>
            </a:effectRef>
            <a:fontRef idx="minor">
              <a:schemeClr val="tx1"/>
            </a:fontRef>
          </p:style>
        </p:cxnSp>
        <p:sp>
          <p:nvSpPr>
            <p:cNvPr id="21" name="Rectangle: Rounded Corners 73">
              <a:extLst>
                <a:ext uri="{FF2B5EF4-FFF2-40B4-BE49-F238E27FC236}">
                  <a16:creationId xmlns:a16="http://schemas.microsoft.com/office/drawing/2014/main" id="{83487645-4F06-4AFD-FF53-D8F9E72669FE}"/>
                </a:ext>
              </a:extLst>
            </p:cNvPr>
            <p:cNvSpPr/>
            <p:nvPr/>
          </p:nvSpPr>
          <p:spPr>
            <a:xfrm>
              <a:off x="3253026" y="1430671"/>
              <a:ext cx="1353885" cy="410728"/>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sz="600" b="1" dirty="0">
                  <a:solidFill>
                    <a:schemeClr val="tx1"/>
                  </a:solidFill>
                </a:rPr>
                <a:t>Data Preprocessing</a:t>
              </a:r>
            </a:p>
            <a:p>
              <a:pPr algn="ctr"/>
              <a:r>
                <a:rPr lang="en-SG" sz="500" dirty="0">
                  <a:solidFill>
                    <a:schemeClr val="tx1"/>
                  </a:solidFill>
                </a:rPr>
                <a:t>Take soccer statistics difference be-tween home and away teams (home minus away) as features</a:t>
              </a:r>
            </a:p>
          </p:txBody>
        </p:sp>
        <p:sp>
          <p:nvSpPr>
            <p:cNvPr id="22" name="Rectangle: Rounded Corners 79">
              <a:extLst>
                <a:ext uri="{FF2B5EF4-FFF2-40B4-BE49-F238E27FC236}">
                  <a16:creationId xmlns:a16="http://schemas.microsoft.com/office/drawing/2014/main" id="{F4464FF2-13A5-10C4-2D20-FBE208DD5997}"/>
                </a:ext>
              </a:extLst>
            </p:cNvPr>
            <p:cNvSpPr/>
            <p:nvPr/>
          </p:nvSpPr>
          <p:spPr>
            <a:xfrm>
              <a:off x="3253026" y="1950190"/>
              <a:ext cx="1353885" cy="474951"/>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sz="600" b="1" dirty="0">
                  <a:solidFill>
                    <a:schemeClr val="tx1"/>
                  </a:solidFill>
                </a:rPr>
                <a:t>Feature Engineering</a:t>
              </a:r>
            </a:p>
            <a:p>
              <a:pPr algn="ctr">
                <a:lnSpc>
                  <a:spcPts val="500"/>
                </a:lnSpc>
              </a:pPr>
              <a:r>
                <a:rPr lang="en-SG" sz="500" dirty="0">
                  <a:solidFill>
                    <a:schemeClr val="tx1"/>
                  </a:solidFill>
                </a:rPr>
                <a:t>Remove highly correlated features, then use sequential forward selection  (highest accuracy)</a:t>
              </a:r>
            </a:p>
            <a:p>
              <a:pPr algn="ctr">
                <a:lnSpc>
                  <a:spcPts val="500"/>
                </a:lnSpc>
              </a:pPr>
              <a:r>
                <a:rPr lang="en-SG" sz="500" dirty="0">
                  <a:solidFill>
                    <a:schemeClr val="tx1"/>
                  </a:solidFill>
                </a:rPr>
                <a:t>For LLM-enhanced models, add the LLM feature from LLM sentiment analysis</a:t>
              </a:r>
            </a:p>
          </p:txBody>
        </p:sp>
        <p:cxnSp>
          <p:nvCxnSpPr>
            <p:cNvPr id="55" name="Straight Arrow Connector 54">
              <a:extLst>
                <a:ext uri="{FF2B5EF4-FFF2-40B4-BE49-F238E27FC236}">
                  <a16:creationId xmlns:a16="http://schemas.microsoft.com/office/drawing/2014/main" id="{58F82F8F-E31D-873B-913A-6B4CC8F43885}"/>
                </a:ext>
              </a:extLst>
            </p:cNvPr>
            <p:cNvCxnSpPr>
              <a:cxnSpLocks/>
              <a:endCxn id="54" idx="0"/>
            </p:cNvCxnSpPr>
            <p:nvPr/>
          </p:nvCxnSpPr>
          <p:spPr>
            <a:xfrm>
              <a:off x="3929967" y="3291656"/>
              <a:ext cx="0" cy="265165"/>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11" name="Rectangle: Rounded Corners 25">
              <a:extLst>
                <a:ext uri="{FF2B5EF4-FFF2-40B4-BE49-F238E27FC236}">
                  <a16:creationId xmlns:a16="http://schemas.microsoft.com/office/drawing/2014/main" id="{1C6D8557-20C3-B386-643C-5C16B4485B3E}"/>
                </a:ext>
              </a:extLst>
            </p:cNvPr>
            <p:cNvSpPr/>
            <p:nvPr/>
          </p:nvSpPr>
          <p:spPr>
            <a:xfrm>
              <a:off x="1162449" y="2758069"/>
              <a:ext cx="1603520" cy="837737"/>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n-SG" sz="600" dirty="0">
                  <a:solidFill>
                    <a:schemeClr val="tx1"/>
                  </a:solidFill>
                  <a:latin typeface="fkGroteskNeue"/>
                </a:rPr>
                <a:t>              </a:t>
              </a:r>
              <a:r>
                <a:rPr lang="en-SG" sz="600" b="1" dirty="0">
                  <a:solidFill>
                    <a:schemeClr val="tx1"/>
                  </a:solidFill>
                  <a:latin typeface="Aptos" panose="020B0004020202020204" pitchFamily="34" charset="0"/>
                </a:rPr>
                <a:t>Team Sentiment Ratings </a:t>
              </a:r>
              <a:endParaRPr lang="en-SG" sz="500" b="1" dirty="0">
                <a:solidFill>
                  <a:schemeClr val="tx1"/>
                </a:solidFill>
                <a:latin typeface="Aptos" panose="020B0004020202020204" pitchFamily="34" charset="0"/>
              </a:endParaRPr>
            </a:p>
            <a:p>
              <a:pPr algn="ctr"/>
              <a:r>
                <a:rPr lang="en-SG" sz="500" dirty="0">
                  <a:solidFill>
                    <a:schemeClr val="tx1"/>
                  </a:solidFill>
                </a:rPr>
                <a:t>Sentiment Scoring  (1–5 scale) :</a:t>
              </a:r>
            </a:p>
            <a:p>
              <a:pPr algn="ctr"/>
              <a:r>
                <a:rPr lang="en-SG" sz="500" dirty="0">
                  <a:solidFill>
                    <a:schemeClr val="tx1"/>
                  </a:solidFill>
                </a:rPr>
                <a:t> 5 = Strongly Positive</a:t>
              </a:r>
            </a:p>
            <a:p>
              <a:pPr algn="ctr"/>
              <a:r>
                <a:rPr lang="en-SG" sz="500" dirty="0">
                  <a:solidFill>
                    <a:schemeClr val="tx1"/>
                  </a:solidFill>
                </a:rPr>
                <a:t>4 = Positive</a:t>
              </a:r>
            </a:p>
            <a:p>
              <a:pPr algn="ctr"/>
              <a:r>
                <a:rPr lang="en-SG" sz="500" dirty="0">
                  <a:solidFill>
                    <a:schemeClr val="tx1"/>
                  </a:solidFill>
                </a:rPr>
                <a:t>3 = Neutral</a:t>
              </a:r>
            </a:p>
            <a:p>
              <a:pPr algn="ctr"/>
              <a:r>
                <a:rPr lang="en-SG" sz="500" dirty="0">
                  <a:solidFill>
                    <a:schemeClr val="tx1"/>
                  </a:solidFill>
                </a:rPr>
                <a:t>2 = Negative</a:t>
              </a:r>
            </a:p>
            <a:p>
              <a:pPr algn="ctr"/>
              <a:r>
                <a:rPr lang="en-SG" sz="500" dirty="0">
                  <a:solidFill>
                    <a:schemeClr val="tx1"/>
                  </a:solidFill>
                </a:rPr>
                <a:t>1 = Strongly Negative</a:t>
              </a:r>
            </a:p>
            <a:p>
              <a:pPr algn="ctr"/>
              <a:endParaRPr lang="en-SG" sz="500" dirty="0">
                <a:solidFill>
                  <a:schemeClr val="tx1"/>
                </a:solidFill>
              </a:endParaRPr>
            </a:p>
            <a:p>
              <a:pPr algn="ctr"/>
              <a:r>
                <a:rPr lang="en-SG" sz="500" dirty="0">
                  <a:solidFill>
                    <a:schemeClr val="tx1"/>
                  </a:solidFill>
                </a:rPr>
                <a:t>Use LLM to get sentiment ratings for each team for the upcoming match</a:t>
              </a:r>
            </a:p>
          </p:txBody>
        </p:sp>
        <p:sp>
          <p:nvSpPr>
            <p:cNvPr id="25" name="Rectangle: Rounded Corners 137">
              <a:extLst>
                <a:ext uri="{FF2B5EF4-FFF2-40B4-BE49-F238E27FC236}">
                  <a16:creationId xmlns:a16="http://schemas.microsoft.com/office/drawing/2014/main" id="{5FDDDBF0-F5C3-F68F-7576-47E9BBEF9C1D}"/>
                </a:ext>
              </a:extLst>
            </p:cNvPr>
            <p:cNvSpPr/>
            <p:nvPr/>
          </p:nvSpPr>
          <p:spPr>
            <a:xfrm>
              <a:off x="3253024" y="2531084"/>
              <a:ext cx="1353885" cy="410728"/>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sz="600" b="1" dirty="0">
                  <a:solidFill>
                    <a:schemeClr val="tx1"/>
                  </a:solidFill>
                </a:rPr>
                <a:t>Hyperparameter Tuning</a:t>
              </a:r>
            </a:p>
            <a:p>
              <a:pPr algn="ctr"/>
              <a:r>
                <a:rPr lang="en-SG" sz="500" dirty="0">
                  <a:solidFill>
                    <a:schemeClr val="tx1"/>
                  </a:solidFill>
                </a:rPr>
                <a:t>Grid search, using 5-fold cross-validation</a:t>
              </a:r>
            </a:p>
            <a:p>
              <a:pPr algn="ctr"/>
              <a:r>
                <a:rPr lang="en-SG" sz="500" dirty="0">
                  <a:solidFill>
                    <a:schemeClr val="tx1"/>
                  </a:solidFill>
                </a:rPr>
                <a:t>Optimise for accuracy (highest accuracy)</a:t>
              </a:r>
            </a:p>
          </p:txBody>
        </p:sp>
        <p:sp>
          <p:nvSpPr>
            <p:cNvPr id="26" name="Rectangle: Rounded Corners 138">
              <a:extLst>
                <a:ext uri="{FF2B5EF4-FFF2-40B4-BE49-F238E27FC236}">
                  <a16:creationId xmlns:a16="http://schemas.microsoft.com/office/drawing/2014/main" id="{CDC99D5E-F148-0B60-7551-36D88187515B}"/>
                </a:ext>
              </a:extLst>
            </p:cNvPr>
            <p:cNvSpPr/>
            <p:nvPr/>
          </p:nvSpPr>
          <p:spPr>
            <a:xfrm>
              <a:off x="3253024" y="3043948"/>
              <a:ext cx="1353885" cy="410728"/>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sz="600" b="1" dirty="0">
                  <a:solidFill>
                    <a:schemeClr val="tx1"/>
                  </a:solidFill>
                </a:rPr>
                <a:t>Model Training</a:t>
              </a:r>
            </a:p>
            <a:p>
              <a:pPr algn="ctr"/>
              <a:r>
                <a:rPr lang="en-SG" sz="500" dirty="0">
                  <a:solidFill>
                    <a:schemeClr val="tx1"/>
                  </a:solidFill>
                </a:rPr>
                <a:t>Models used: Logistic Regression, SVC, Random Forest, </a:t>
              </a:r>
              <a:r>
                <a:rPr lang="en-SG" sz="500" dirty="0" err="1">
                  <a:solidFill>
                    <a:schemeClr val="tx1"/>
                  </a:solidFill>
                </a:rPr>
                <a:t>XGBoost</a:t>
              </a:r>
              <a:endParaRPr lang="en-SG" sz="500" dirty="0">
                <a:solidFill>
                  <a:schemeClr val="tx1"/>
                </a:solidFill>
              </a:endParaRPr>
            </a:p>
            <a:p>
              <a:pPr algn="ctr"/>
              <a:r>
                <a:rPr lang="en-SG" sz="500" dirty="0">
                  <a:solidFill>
                    <a:schemeClr val="tx1"/>
                  </a:solidFill>
                </a:rPr>
                <a:t>Data used: training set</a:t>
              </a:r>
            </a:p>
          </p:txBody>
        </p:sp>
        <p:sp>
          <p:nvSpPr>
            <p:cNvPr id="58" name="Rectangle: Rounded Corners 138">
              <a:extLst>
                <a:ext uri="{FF2B5EF4-FFF2-40B4-BE49-F238E27FC236}">
                  <a16:creationId xmlns:a16="http://schemas.microsoft.com/office/drawing/2014/main" id="{1A5BC18D-3838-E40F-C057-92CDC6BD3B71}"/>
                </a:ext>
              </a:extLst>
            </p:cNvPr>
            <p:cNvSpPr/>
            <p:nvPr/>
          </p:nvSpPr>
          <p:spPr>
            <a:xfrm>
              <a:off x="3253016" y="4076890"/>
              <a:ext cx="1353885" cy="410728"/>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sz="600" b="1" dirty="0">
                  <a:solidFill>
                    <a:schemeClr val="tx1"/>
                  </a:solidFill>
                </a:rPr>
                <a:t>Final Model Training</a:t>
              </a:r>
            </a:p>
            <a:p>
              <a:pPr algn="ctr"/>
              <a:r>
                <a:rPr lang="en-SG" sz="500" dirty="0">
                  <a:solidFill>
                    <a:schemeClr val="tx1"/>
                  </a:solidFill>
                </a:rPr>
                <a:t>Models used: Logistic Regression, SVC, Random Forest, </a:t>
              </a:r>
              <a:r>
                <a:rPr lang="en-SG" sz="500" dirty="0" err="1">
                  <a:solidFill>
                    <a:schemeClr val="tx1"/>
                  </a:solidFill>
                </a:rPr>
                <a:t>XGBoost</a:t>
              </a:r>
              <a:endParaRPr lang="en-SG" sz="500" dirty="0">
                <a:solidFill>
                  <a:schemeClr val="tx1"/>
                </a:solidFill>
              </a:endParaRPr>
            </a:p>
            <a:p>
              <a:pPr algn="ctr"/>
              <a:r>
                <a:rPr lang="en-SG" sz="500" dirty="0">
                  <a:solidFill>
                    <a:schemeClr val="tx1"/>
                  </a:solidFill>
                </a:rPr>
                <a:t>Data used: training set + testing set</a:t>
              </a:r>
            </a:p>
          </p:txBody>
        </p:sp>
        <p:cxnSp>
          <p:nvCxnSpPr>
            <p:cNvPr id="59" name="Straight Arrow Connector 58">
              <a:extLst>
                <a:ext uri="{FF2B5EF4-FFF2-40B4-BE49-F238E27FC236}">
                  <a16:creationId xmlns:a16="http://schemas.microsoft.com/office/drawing/2014/main" id="{0CB481AE-64F8-928E-F2E2-82192098D483}"/>
                </a:ext>
              </a:extLst>
            </p:cNvPr>
            <p:cNvCxnSpPr>
              <a:cxnSpLocks/>
              <a:endCxn id="58" idx="0"/>
            </p:cNvCxnSpPr>
            <p:nvPr/>
          </p:nvCxnSpPr>
          <p:spPr>
            <a:xfrm>
              <a:off x="3929959" y="3811725"/>
              <a:ext cx="0" cy="265165"/>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54" name="Rectangle: Rounded Corners 138">
              <a:extLst>
                <a:ext uri="{FF2B5EF4-FFF2-40B4-BE49-F238E27FC236}">
                  <a16:creationId xmlns:a16="http://schemas.microsoft.com/office/drawing/2014/main" id="{061DC70D-F724-CD34-AC7E-A7948945ECCF}"/>
                </a:ext>
              </a:extLst>
            </p:cNvPr>
            <p:cNvSpPr/>
            <p:nvPr/>
          </p:nvSpPr>
          <p:spPr>
            <a:xfrm>
              <a:off x="3253024" y="3556821"/>
              <a:ext cx="1353885" cy="410728"/>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sz="600" b="1" dirty="0">
                  <a:solidFill>
                    <a:schemeClr val="tx1"/>
                  </a:solidFill>
                </a:rPr>
                <a:t>Model Evaluation</a:t>
              </a:r>
            </a:p>
            <a:p>
              <a:pPr algn="ctr"/>
              <a:r>
                <a:rPr lang="en-SG" sz="500" dirty="0">
                  <a:solidFill>
                    <a:schemeClr val="tx1"/>
                  </a:solidFill>
                </a:rPr>
                <a:t>Models used: Logistic Regression, SVC, Random Forest, </a:t>
              </a:r>
              <a:r>
                <a:rPr lang="en-SG" sz="500" dirty="0" err="1">
                  <a:solidFill>
                    <a:schemeClr val="tx1"/>
                  </a:solidFill>
                </a:rPr>
                <a:t>XGBoost</a:t>
              </a:r>
              <a:endParaRPr lang="en-SG" sz="500" dirty="0">
                <a:solidFill>
                  <a:schemeClr val="tx1"/>
                </a:solidFill>
              </a:endParaRPr>
            </a:p>
            <a:p>
              <a:pPr algn="ctr"/>
              <a:r>
                <a:rPr lang="en-SG" sz="500" dirty="0">
                  <a:solidFill>
                    <a:schemeClr val="tx1"/>
                  </a:solidFill>
                </a:rPr>
                <a:t>Data used: testing set</a:t>
              </a:r>
            </a:p>
          </p:txBody>
        </p:sp>
        <p:grpSp>
          <p:nvGrpSpPr>
            <p:cNvPr id="71" name="Group 70">
              <a:extLst>
                <a:ext uri="{FF2B5EF4-FFF2-40B4-BE49-F238E27FC236}">
                  <a16:creationId xmlns:a16="http://schemas.microsoft.com/office/drawing/2014/main" id="{7C29C79F-F77B-A7CE-A007-34FE018F81ED}"/>
                </a:ext>
              </a:extLst>
            </p:cNvPr>
            <p:cNvGrpSpPr/>
            <p:nvPr/>
          </p:nvGrpSpPr>
          <p:grpSpPr>
            <a:xfrm>
              <a:off x="5025055" y="3517720"/>
              <a:ext cx="1710671" cy="1045419"/>
              <a:chOff x="1754338" y="3076943"/>
              <a:chExt cx="1781434" cy="1045419"/>
            </a:xfrm>
          </p:grpSpPr>
          <p:sp>
            <p:nvSpPr>
              <p:cNvPr id="72" name="Rectangle: Rounded Corners 157">
                <a:extLst>
                  <a:ext uri="{FF2B5EF4-FFF2-40B4-BE49-F238E27FC236}">
                    <a16:creationId xmlns:a16="http://schemas.microsoft.com/office/drawing/2014/main" id="{E0887879-5919-4EFE-F013-103BE36DC57D}"/>
                  </a:ext>
                </a:extLst>
              </p:cNvPr>
              <p:cNvSpPr/>
              <p:nvPr/>
            </p:nvSpPr>
            <p:spPr>
              <a:xfrm>
                <a:off x="1754338" y="3076943"/>
                <a:ext cx="1781434" cy="1045419"/>
              </a:xfrm>
              <a:prstGeom prst="roundRect">
                <a:avLst/>
              </a:prstGeom>
              <a:solidFill>
                <a:schemeClr val="accent2">
                  <a:lumMod val="20000"/>
                  <a:lumOff val="80000"/>
                </a:schemeClr>
              </a:solidFill>
              <a:ln>
                <a:solidFill>
                  <a:schemeClr val="accent1"/>
                </a:solidFill>
              </a:ln>
            </p:spPr>
            <p:style>
              <a:lnRef idx="1">
                <a:schemeClr val="accent4"/>
              </a:lnRef>
              <a:fillRef idx="2">
                <a:schemeClr val="accent4"/>
              </a:fillRef>
              <a:effectRef idx="1">
                <a:schemeClr val="accent4"/>
              </a:effectRef>
              <a:fontRef idx="minor">
                <a:schemeClr val="dk1"/>
              </a:fontRef>
            </p:style>
            <p:txBody>
              <a:bodyPr rtlCol="0" anchor="ctr"/>
              <a:lstStyle/>
              <a:p>
                <a:pPr algn="ctr"/>
                <a:endParaRPr lang="en-SG" sz="500" dirty="0"/>
              </a:p>
              <a:p>
                <a:pPr algn="ctr"/>
                <a:endParaRPr lang="en-SG" sz="500" dirty="0"/>
              </a:p>
            </p:txBody>
          </p:sp>
          <p:sp>
            <p:nvSpPr>
              <p:cNvPr id="73" name="TextBox 72">
                <a:extLst>
                  <a:ext uri="{FF2B5EF4-FFF2-40B4-BE49-F238E27FC236}">
                    <a16:creationId xmlns:a16="http://schemas.microsoft.com/office/drawing/2014/main" id="{6D8C1F8F-AE00-B1F1-DD96-CEBE961031C8}"/>
                  </a:ext>
                </a:extLst>
              </p:cNvPr>
              <p:cNvSpPr txBox="1"/>
              <p:nvPr/>
            </p:nvSpPr>
            <p:spPr>
              <a:xfrm>
                <a:off x="1941221" y="3120053"/>
                <a:ext cx="1525836" cy="215444"/>
              </a:xfrm>
              <a:prstGeom prst="rect">
                <a:avLst/>
              </a:prstGeom>
              <a:noFill/>
            </p:spPr>
            <p:txBody>
              <a:bodyPr wrap="square" rtlCol="0">
                <a:spAutoFit/>
              </a:bodyPr>
              <a:lstStyle/>
              <a:p>
                <a:pPr algn="ctr"/>
                <a:r>
                  <a:rPr lang="en-SG" sz="800" dirty="0"/>
                  <a:t>           </a:t>
                </a:r>
                <a:r>
                  <a:rPr lang="en-SG" sz="800" b="1" dirty="0"/>
                  <a:t>(d) Betting Simulation </a:t>
                </a:r>
              </a:p>
            </p:txBody>
          </p:sp>
          <p:pic>
            <p:nvPicPr>
              <p:cNvPr id="74" name="Picture 4" descr="Betting ">
                <a:extLst>
                  <a:ext uri="{FF2B5EF4-FFF2-40B4-BE49-F238E27FC236}">
                    <a16:creationId xmlns:a16="http://schemas.microsoft.com/office/drawing/2014/main" id="{9B776B68-76F5-F0C9-637C-A27DE60665D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31584" y="3127133"/>
                <a:ext cx="200025" cy="200025"/>
              </a:xfrm>
              <a:prstGeom prst="rect">
                <a:avLst/>
              </a:prstGeom>
              <a:noFill/>
              <a:extLst>
                <a:ext uri="{909E8E84-426E-40DD-AFC4-6F175D3DCCD1}">
                  <a14:hiddenFill xmlns:a14="http://schemas.microsoft.com/office/drawing/2010/main">
                    <a:solidFill>
                      <a:srgbClr val="FFFFFF"/>
                    </a:solidFill>
                  </a14:hiddenFill>
                </a:ext>
              </a:extLst>
            </p:spPr>
          </p:pic>
          <p:sp>
            <p:nvSpPr>
              <p:cNvPr id="75" name="Rectangle: Rounded Corners 170">
                <a:extLst>
                  <a:ext uri="{FF2B5EF4-FFF2-40B4-BE49-F238E27FC236}">
                    <a16:creationId xmlns:a16="http://schemas.microsoft.com/office/drawing/2014/main" id="{957951E3-2C83-8AE6-3006-682C07A088E4}"/>
                  </a:ext>
                </a:extLst>
              </p:cNvPr>
              <p:cNvSpPr/>
              <p:nvPr/>
            </p:nvSpPr>
            <p:spPr>
              <a:xfrm>
                <a:off x="1919078" y="3413215"/>
                <a:ext cx="1458311" cy="509588"/>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sz="500" dirty="0">
                    <a:solidFill>
                      <a:schemeClr val="tx1"/>
                    </a:solidFill>
                  </a:rPr>
                  <a:t>Start with $10000 bankroll, bet one-eighth Kelly for every model and only bet when there is a positive expected value (EV). </a:t>
                </a:r>
              </a:p>
            </p:txBody>
          </p:sp>
        </p:grpSp>
        <p:cxnSp>
          <p:nvCxnSpPr>
            <p:cNvPr id="32" name="Straight Arrow Connector 31">
              <a:extLst>
                <a:ext uri="{FF2B5EF4-FFF2-40B4-BE49-F238E27FC236}">
                  <a16:creationId xmlns:a16="http://schemas.microsoft.com/office/drawing/2014/main" id="{3D010DE6-9D5B-E51D-47C4-2802163BA48C}"/>
                </a:ext>
              </a:extLst>
            </p:cNvPr>
            <p:cNvCxnSpPr>
              <a:cxnSpLocks/>
              <a:stCxn id="58" idx="3"/>
              <a:endCxn id="75" idx="1"/>
            </p:cNvCxnSpPr>
            <p:nvPr/>
          </p:nvCxnSpPr>
          <p:spPr>
            <a:xfrm flipV="1">
              <a:off x="4606901" y="4108786"/>
              <a:ext cx="576350" cy="173468"/>
            </a:xfrm>
            <a:prstGeom prst="bentConnector3">
              <a:avLst>
                <a:gd name="adj1" fmla="val 50000"/>
              </a:avLst>
            </a:prstGeom>
            <a:ln>
              <a:tailEnd type="triangle"/>
            </a:ln>
          </p:spPr>
          <p:style>
            <a:lnRef idx="2">
              <a:schemeClr val="dk1"/>
            </a:lnRef>
            <a:fillRef idx="0">
              <a:schemeClr val="dk1"/>
            </a:fillRef>
            <a:effectRef idx="1">
              <a:schemeClr val="dk1"/>
            </a:effectRef>
            <a:fontRef idx="minor">
              <a:schemeClr val="tx1"/>
            </a:fontRef>
          </p:style>
        </p:cxnSp>
        <p:sp>
          <p:nvSpPr>
            <p:cNvPr id="9" name="TextBox 8">
              <a:extLst>
                <a:ext uri="{FF2B5EF4-FFF2-40B4-BE49-F238E27FC236}">
                  <a16:creationId xmlns:a16="http://schemas.microsoft.com/office/drawing/2014/main" id="{7A9F3763-E8A9-7327-65A4-1BE1710A72D1}"/>
                </a:ext>
              </a:extLst>
            </p:cNvPr>
            <p:cNvSpPr txBox="1"/>
            <p:nvPr/>
          </p:nvSpPr>
          <p:spPr>
            <a:xfrm>
              <a:off x="1255745" y="2036568"/>
              <a:ext cx="1457388" cy="215444"/>
            </a:xfrm>
            <a:prstGeom prst="rect">
              <a:avLst/>
            </a:prstGeom>
            <a:noFill/>
          </p:spPr>
          <p:txBody>
            <a:bodyPr wrap="square" rtlCol="0">
              <a:spAutoFit/>
            </a:bodyPr>
            <a:lstStyle/>
            <a:p>
              <a:r>
                <a:rPr lang="en-SG" sz="800" b="1" dirty="0"/>
                <a:t>(b) LLM Sentiment Analysis</a:t>
              </a:r>
            </a:p>
          </p:txBody>
        </p:sp>
        <p:cxnSp>
          <p:nvCxnSpPr>
            <p:cNvPr id="47" name="Straight Arrow Connector 46">
              <a:extLst>
                <a:ext uri="{FF2B5EF4-FFF2-40B4-BE49-F238E27FC236}">
                  <a16:creationId xmlns:a16="http://schemas.microsoft.com/office/drawing/2014/main" id="{2D85C62B-59D9-401C-A651-7B711B6E7929}"/>
                </a:ext>
              </a:extLst>
            </p:cNvPr>
            <p:cNvCxnSpPr>
              <a:cxnSpLocks/>
            </p:cNvCxnSpPr>
            <p:nvPr/>
          </p:nvCxnSpPr>
          <p:spPr>
            <a:xfrm>
              <a:off x="2696512" y="1625544"/>
              <a:ext cx="556504" cy="0"/>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56" name="TextBox 55">
              <a:extLst>
                <a:ext uri="{FF2B5EF4-FFF2-40B4-BE49-F238E27FC236}">
                  <a16:creationId xmlns:a16="http://schemas.microsoft.com/office/drawing/2014/main" id="{B2F1C2F3-5E4C-75B4-E807-D6DA6FEDC58E}"/>
                </a:ext>
              </a:extLst>
            </p:cNvPr>
            <p:cNvSpPr txBox="1"/>
            <p:nvPr/>
          </p:nvSpPr>
          <p:spPr>
            <a:xfrm>
              <a:off x="1195902" y="2230219"/>
              <a:ext cx="1681847" cy="184666"/>
            </a:xfrm>
            <a:prstGeom prst="rect">
              <a:avLst/>
            </a:prstGeom>
            <a:noFill/>
          </p:spPr>
          <p:txBody>
            <a:bodyPr wrap="square">
              <a:spAutoFit/>
            </a:bodyPr>
            <a:lstStyle/>
            <a:p>
              <a:pPr algn="ctr"/>
              <a:r>
                <a:rPr lang="en-SG" sz="600" b="1" dirty="0">
                  <a:latin typeface="Aptos" panose="020B0004020202020204" pitchFamily="34" charset="0"/>
                </a:rPr>
                <a:t>LLM Sentiment Score for Upcoming Match</a:t>
              </a:r>
            </a:p>
          </p:txBody>
        </p:sp>
        <p:cxnSp>
          <p:nvCxnSpPr>
            <p:cNvPr id="61" name="Straight Arrow Connector 60">
              <a:extLst>
                <a:ext uri="{FF2B5EF4-FFF2-40B4-BE49-F238E27FC236}">
                  <a16:creationId xmlns:a16="http://schemas.microsoft.com/office/drawing/2014/main" id="{2B4B7530-9AC7-00E5-50D7-B963A0B07381}"/>
                </a:ext>
              </a:extLst>
            </p:cNvPr>
            <p:cNvCxnSpPr>
              <a:cxnSpLocks/>
            </p:cNvCxnSpPr>
            <p:nvPr/>
          </p:nvCxnSpPr>
          <p:spPr>
            <a:xfrm>
              <a:off x="1955324" y="2581879"/>
              <a:ext cx="4271" cy="187228"/>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10" name="Rectangle: Rounded Corners 12">
              <a:extLst>
                <a:ext uri="{FF2B5EF4-FFF2-40B4-BE49-F238E27FC236}">
                  <a16:creationId xmlns:a16="http://schemas.microsoft.com/office/drawing/2014/main" id="{20308DFB-EE78-DE2C-8B4E-7EFCB3D33D69}"/>
                </a:ext>
              </a:extLst>
            </p:cNvPr>
            <p:cNvSpPr/>
            <p:nvPr/>
          </p:nvSpPr>
          <p:spPr>
            <a:xfrm>
              <a:off x="1162448" y="2242675"/>
              <a:ext cx="1662735" cy="420300"/>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sz="500" dirty="0">
                <a:solidFill>
                  <a:schemeClr val="tx1"/>
                </a:solidFill>
              </a:endParaRPr>
            </a:p>
            <a:p>
              <a:pPr algn="ctr"/>
              <a:r>
                <a:rPr lang="en-SG" sz="500" dirty="0">
                  <a:solidFill>
                    <a:schemeClr val="tx1"/>
                  </a:solidFill>
                </a:rPr>
                <a:t>Predict the sentiment for each team for the upcoming match based on what happened in the previous match from the commentaries</a:t>
              </a:r>
            </a:p>
          </p:txBody>
        </p:sp>
      </p:grpSp>
    </p:spTree>
    <p:extLst>
      <p:ext uri="{BB962C8B-B14F-4D97-AF65-F5344CB8AC3E}">
        <p14:creationId xmlns:p14="http://schemas.microsoft.com/office/powerpoint/2010/main" val="277989540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6951d41b-6b8e-4636-984f-012bff14ba18}" enabled="1" method="Standard" siteId="{c98a79ca-5a9a-4791-a243-f06afd67464d}" contentBits="1" removed="0"/>
</clbl:labelList>
</file>

<file path=docProps/app.xml><?xml version="1.0" encoding="utf-8"?>
<Properties xmlns="http://schemas.openxmlformats.org/officeDocument/2006/extended-properties" xmlns:vt="http://schemas.openxmlformats.org/officeDocument/2006/docPropsVTypes">
  <TotalTime>562</TotalTime>
  <Words>298</Words>
  <Application>Microsoft Office PowerPoint</Application>
  <PresentationFormat>Widescreen</PresentationFormat>
  <Paragraphs>42</Paragraphs>
  <Slides>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vt:i4>
      </vt:variant>
    </vt:vector>
  </HeadingPairs>
  <TitlesOfParts>
    <vt:vector size="7" baseType="lpstr">
      <vt:lpstr>fkGroteskNeue</vt:lpstr>
      <vt:lpstr>Aptos</vt:lpstr>
      <vt:lpstr>Aptos Display</vt:lpstr>
      <vt:lpstr>Arial</vt:lpstr>
      <vt:lpstr>Calibri</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Donghao Huang</dc:creator>
  <cp:lastModifiedBy>WANG Zhaoxia</cp:lastModifiedBy>
  <cp:revision>7</cp:revision>
  <dcterms:created xsi:type="dcterms:W3CDTF">2025-06-04T15:05:44Z</dcterms:created>
  <dcterms:modified xsi:type="dcterms:W3CDTF">2025-06-06T03:17:10Z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lassificationContentMarkingHeaderLocations">
    <vt:lpwstr>Office Theme:8</vt:lpwstr>
  </property>
  <property fmtid="{D5CDD505-2E9C-101B-9397-08002B2CF9AE}" pid="3" name="ClassificationContentMarkingHeaderText">
    <vt:lpwstr>SMU Classification: Restricted</vt:lpwstr>
  </property>
</Properties>
</file>