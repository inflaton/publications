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6"/>
    <p:restoredTop sz="94730"/>
  </p:normalViewPr>
  <p:slideViewPr>
    <p:cSldViewPr snapToGrid="0">
      <p:cViewPr>
        <p:scale>
          <a:sx n="110" d="100"/>
          <a:sy n="110" d="100"/>
        </p:scale>
        <p:origin x="52" y="-5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9301E-A8C2-F85F-EC7F-C59F1E6DC1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A27C4D-3AAF-4ADC-030C-792370FD9A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B9ED21-B2F4-C8B9-BBAB-639FB5F980FC}"/>
              </a:ext>
            </a:extLst>
          </p:cNvPr>
          <p:cNvSpPr>
            <a:spLocks noGrp="1"/>
          </p:cNvSpPr>
          <p:nvPr>
            <p:ph type="dt" sz="half" idx="10"/>
          </p:nvPr>
        </p:nvSpPr>
        <p:spPr/>
        <p:txBody>
          <a:bodyPr/>
          <a:lstStyle/>
          <a:p>
            <a:fld id="{F894DDCF-9E84-D949-B336-2169DCDD9F8F}" type="datetimeFigureOut">
              <a:rPr lang="en-US" smtClean="0"/>
              <a:t>9/24/2025</a:t>
            </a:fld>
            <a:endParaRPr lang="en-US"/>
          </a:p>
        </p:txBody>
      </p:sp>
      <p:sp>
        <p:nvSpPr>
          <p:cNvPr id="5" name="Footer Placeholder 4">
            <a:extLst>
              <a:ext uri="{FF2B5EF4-FFF2-40B4-BE49-F238E27FC236}">
                <a16:creationId xmlns:a16="http://schemas.microsoft.com/office/drawing/2014/main" id="{DE0B6C8F-0000-9FD9-6992-ED5668FEF6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57AF9-CEB9-3627-CCBE-1C56E7E0CF6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457676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AD2B-D888-1D7A-D5E7-13688909B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1BB224-328D-749C-0EF0-F0182F901E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2B865E-ABD2-6161-9D85-400FA6E1CD20}"/>
              </a:ext>
            </a:extLst>
          </p:cNvPr>
          <p:cNvSpPr>
            <a:spLocks noGrp="1"/>
          </p:cNvSpPr>
          <p:nvPr>
            <p:ph type="dt" sz="half" idx="10"/>
          </p:nvPr>
        </p:nvSpPr>
        <p:spPr/>
        <p:txBody>
          <a:bodyPr/>
          <a:lstStyle/>
          <a:p>
            <a:fld id="{F894DDCF-9E84-D949-B336-2169DCDD9F8F}" type="datetimeFigureOut">
              <a:rPr lang="en-US" smtClean="0"/>
              <a:t>9/24/2025</a:t>
            </a:fld>
            <a:endParaRPr lang="en-US"/>
          </a:p>
        </p:txBody>
      </p:sp>
      <p:sp>
        <p:nvSpPr>
          <p:cNvPr id="5" name="Footer Placeholder 4">
            <a:extLst>
              <a:ext uri="{FF2B5EF4-FFF2-40B4-BE49-F238E27FC236}">
                <a16:creationId xmlns:a16="http://schemas.microsoft.com/office/drawing/2014/main" id="{D091F205-AD26-8053-87E7-2A83EAF926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41C3C1-F048-D675-81AB-D2AB3A01B86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825789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EB4B-9300-E3EC-3AD2-5A21E2EB68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3373BB-86E5-CE68-04B3-16CC2EF671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C1C0B-0240-0C46-D071-2DB67D03A73F}"/>
              </a:ext>
            </a:extLst>
          </p:cNvPr>
          <p:cNvSpPr>
            <a:spLocks noGrp="1"/>
          </p:cNvSpPr>
          <p:nvPr>
            <p:ph type="dt" sz="half" idx="10"/>
          </p:nvPr>
        </p:nvSpPr>
        <p:spPr/>
        <p:txBody>
          <a:bodyPr/>
          <a:lstStyle/>
          <a:p>
            <a:fld id="{F894DDCF-9E84-D949-B336-2169DCDD9F8F}" type="datetimeFigureOut">
              <a:rPr lang="en-US" smtClean="0"/>
              <a:t>9/24/2025</a:t>
            </a:fld>
            <a:endParaRPr lang="en-US"/>
          </a:p>
        </p:txBody>
      </p:sp>
      <p:sp>
        <p:nvSpPr>
          <p:cNvPr id="5" name="Footer Placeholder 4">
            <a:extLst>
              <a:ext uri="{FF2B5EF4-FFF2-40B4-BE49-F238E27FC236}">
                <a16:creationId xmlns:a16="http://schemas.microsoft.com/office/drawing/2014/main" id="{C4DD6C6C-DEF5-16E9-BB7F-CDBFE8A709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B44CD-822B-6679-026E-BBD3A8861892}"/>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245029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271A3-56D7-33AB-AB4D-0460BB6E05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64C736-5255-627E-055C-A91913F757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FC6B11-71F0-8BCF-F49C-747A39FF0B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5DCF9E-65D6-3BF4-6A0C-ED5BAB782A96}"/>
              </a:ext>
            </a:extLst>
          </p:cNvPr>
          <p:cNvSpPr>
            <a:spLocks noGrp="1"/>
          </p:cNvSpPr>
          <p:nvPr>
            <p:ph type="dt" sz="half" idx="10"/>
          </p:nvPr>
        </p:nvSpPr>
        <p:spPr/>
        <p:txBody>
          <a:bodyPr/>
          <a:lstStyle/>
          <a:p>
            <a:fld id="{F894DDCF-9E84-D949-B336-2169DCDD9F8F}" type="datetimeFigureOut">
              <a:rPr lang="en-US" smtClean="0"/>
              <a:t>9/24/2025</a:t>
            </a:fld>
            <a:endParaRPr lang="en-US"/>
          </a:p>
        </p:txBody>
      </p:sp>
      <p:sp>
        <p:nvSpPr>
          <p:cNvPr id="6" name="Footer Placeholder 5">
            <a:extLst>
              <a:ext uri="{FF2B5EF4-FFF2-40B4-BE49-F238E27FC236}">
                <a16:creationId xmlns:a16="http://schemas.microsoft.com/office/drawing/2014/main" id="{B14773C7-82F9-F983-3847-E725C3AC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64C2A3-FC28-659E-6ED8-88E13AC4ACD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537247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2F29B-8BD0-DD2E-AEA3-C3913930AA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9070BC-A576-E42D-14C6-74084E66DF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9487AC-B2C6-C3D1-F739-2C28748BC5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CB983A-BDF9-DAB8-C965-CA061A9199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3498A1-6789-88CD-8BDA-1E74BBE483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49ACB3-2288-E943-A087-0D923C259DFB}"/>
              </a:ext>
            </a:extLst>
          </p:cNvPr>
          <p:cNvSpPr>
            <a:spLocks noGrp="1"/>
          </p:cNvSpPr>
          <p:nvPr>
            <p:ph type="dt" sz="half" idx="10"/>
          </p:nvPr>
        </p:nvSpPr>
        <p:spPr/>
        <p:txBody>
          <a:bodyPr/>
          <a:lstStyle/>
          <a:p>
            <a:fld id="{F894DDCF-9E84-D949-B336-2169DCDD9F8F}" type="datetimeFigureOut">
              <a:rPr lang="en-US" smtClean="0"/>
              <a:t>9/24/2025</a:t>
            </a:fld>
            <a:endParaRPr lang="en-US"/>
          </a:p>
        </p:txBody>
      </p:sp>
      <p:sp>
        <p:nvSpPr>
          <p:cNvPr id="8" name="Footer Placeholder 7">
            <a:extLst>
              <a:ext uri="{FF2B5EF4-FFF2-40B4-BE49-F238E27FC236}">
                <a16:creationId xmlns:a16="http://schemas.microsoft.com/office/drawing/2014/main" id="{F1F6081B-CD2F-D0D7-33A3-C90C9B434E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707DD7-9B32-ACF6-F3DC-36926AC8306B}"/>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40395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19136-7442-AD4A-915A-1AD7F9BBB2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4C387F-DBE5-940A-8DB9-A126FFB93DA4}"/>
              </a:ext>
            </a:extLst>
          </p:cNvPr>
          <p:cNvSpPr>
            <a:spLocks noGrp="1"/>
          </p:cNvSpPr>
          <p:nvPr>
            <p:ph type="dt" sz="half" idx="10"/>
          </p:nvPr>
        </p:nvSpPr>
        <p:spPr/>
        <p:txBody>
          <a:bodyPr/>
          <a:lstStyle/>
          <a:p>
            <a:fld id="{F894DDCF-9E84-D949-B336-2169DCDD9F8F}" type="datetimeFigureOut">
              <a:rPr lang="en-US" smtClean="0"/>
              <a:t>9/24/2025</a:t>
            </a:fld>
            <a:endParaRPr lang="en-US"/>
          </a:p>
        </p:txBody>
      </p:sp>
      <p:sp>
        <p:nvSpPr>
          <p:cNvPr id="4" name="Footer Placeholder 3">
            <a:extLst>
              <a:ext uri="{FF2B5EF4-FFF2-40B4-BE49-F238E27FC236}">
                <a16:creationId xmlns:a16="http://schemas.microsoft.com/office/drawing/2014/main" id="{562465A4-8FE7-AF90-A4E1-6B1CF1CD1B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E71899-9FC4-7652-D8F5-4DDA2741E1C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659551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3245EB-AC8A-7817-5566-3950F82CE9AC}"/>
              </a:ext>
            </a:extLst>
          </p:cNvPr>
          <p:cNvSpPr>
            <a:spLocks noGrp="1"/>
          </p:cNvSpPr>
          <p:nvPr>
            <p:ph type="dt" sz="half" idx="10"/>
          </p:nvPr>
        </p:nvSpPr>
        <p:spPr/>
        <p:txBody>
          <a:bodyPr/>
          <a:lstStyle/>
          <a:p>
            <a:fld id="{F894DDCF-9E84-D949-B336-2169DCDD9F8F}" type="datetimeFigureOut">
              <a:rPr lang="en-US" smtClean="0"/>
              <a:t>9/24/2025</a:t>
            </a:fld>
            <a:endParaRPr lang="en-US"/>
          </a:p>
        </p:txBody>
      </p:sp>
      <p:sp>
        <p:nvSpPr>
          <p:cNvPr id="3" name="Footer Placeholder 2">
            <a:extLst>
              <a:ext uri="{FF2B5EF4-FFF2-40B4-BE49-F238E27FC236}">
                <a16:creationId xmlns:a16="http://schemas.microsoft.com/office/drawing/2014/main" id="{42C6D925-C21F-F09E-DCAB-9E42CD20B2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5F1946-68B9-3145-1D77-B5B04E3BCEBA}"/>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277936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956B0-8AD2-0168-605E-BE7188F4C7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314930-3F22-59EE-6EAB-E3372AE0C2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FDEA93-07ED-642E-E767-1C5A588566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D94E84-7C09-277E-490C-A766EF016479}"/>
              </a:ext>
            </a:extLst>
          </p:cNvPr>
          <p:cNvSpPr>
            <a:spLocks noGrp="1"/>
          </p:cNvSpPr>
          <p:nvPr>
            <p:ph type="dt" sz="half" idx="10"/>
          </p:nvPr>
        </p:nvSpPr>
        <p:spPr/>
        <p:txBody>
          <a:bodyPr/>
          <a:lstStyle/>
          <a:p>
            <a:fld id="{F894DDCF-9E84-D949-B336-2169DCDD9F8F}" type="datetimeFigureOut">
              <a:rPr lang="en-US" smtClean="0"/>
              <a:t>9/24/2025</a:t>
            </a:fld>
            <a:endParaRPr lang="en-US"/>
          </a:p>
        </p:txBody>
      </p:sp>
      <p:sp>
        <p:nvSpPr>
          <p:cNvPr id="6" name="Footer Placeholder 5">
            <a:extLst>
              <a:ext uri="{FF2B5EF4-FFF2-40B4-BE49-F238E27FC236}">
                <a16:creationId xmlns:a16="http://schemas.microsoft.com/office/drawing/2014/main" id="{8DE20D52-59AD-BF99-7336-375D0A22E7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7055A3-C3F3-E4D2-B9EC-552DEA5E8C8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69762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3F7C7-97D4-2960-9505-73E4D59F59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A2E3F8-0B1A-6059-C0DF-A7496E555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BF8E7C-56B2-504C-133E-4F7759044A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84FE18-8637-3E82-01F5-87DB5E1A8D46}"/>
              </a:ext>
            </a:extLst>
          </p:cNvPr>
          <p:cNvSpPr>
            <a:spLocks noGrp="1"/>
          </p:cNvSpPr>
          <p:nvPr>
            <p:ph type="dt" sz="half" idx="10"/>
          </p:nvPr>
        </p:nvSpPr>
        <p:spPr/>
        <p:txBody>
          <a:bodyPr/>
          <a:lstStyle/>
          <a:p>
            <a:fld id="{F894DDCF-9E84-D949-B336-2169DCDD9F8F}" type="datetimeFigureOut">
              <a:rPr lang="en-US" smtClean="0"/>
              <a:t>9/24/2025</a:t>
            </a:fld>
            <a:endParaRPr lang="en-US"/>
          </a:p>
        </p:txBody>
      </p:sp>
      <p:sp>
        <p:nvSpPr>
          <p:cNvPr id="6" name="Footer Placeholder 5">
            <a:extLst>
              <a:ext uri="{FF2B5EF4-FFF2-40B4-BE49-F238E27FC236}">
                <a16:creationId xmlns:a16="http://schemas.microsoft.com/office/drawing/2014/main" id="{4E9CD453-A1D8-EC45-65AA-9D6BA74111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0C47A-4AC4-7076-EB4F-543F180A6F2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3836966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490D-03AC-F44E-0895-FDFA70CF4A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0B751A-9B73-69A9-977A-E2E77033C5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95B64-B408-039B-D99D-E5E176B7C670}"/>
              </a:ext>
            </a:extLst>
          </p:cNvPr>
          <p:cNvSpPr>
            <a:spLocks noGrp="1"/>
          </p:cNvSpPr>
          <p:nvPr>
            <p:ph type="dt" sz="half" idx="10"/>
          </p:nvPr>
        </p:nvSpPr>
        <p:spPr/>
        <p:txBody>
          <a:bodyPr/>
          <a:lstStyle/>
          <a:p>
            <a:fld id="{F894DDCF-9E84-D949-B336-2169DCDD9F8F}" type="datetimeFigureOut">
              <a:rPr lang="en-US" smtClean="0"/>
              <a:t>9/24/2025</a:t>
            </a:fld>
            <a:endParaRPr lang="en-US"/>
          </a:p>
        </p:txBody>
      </p:sp>
      <p:sp>
        <p:nvSpPr>
          <p:cNvPr id="5" name="Footer Placeholder 4">
            <a:extLst>
              <a:ext uri="{FF2B5EF4-FFF2-40B4-BE49-F238E27FC236}">
                <a16:creationId xmlns:a16="http://schemas.microsoft.com/office/drawing/2014/main" id="{AE8F588F-F905-C3BF-00FD-04B8902B4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BC5EE-62E0-8FAC-1F12-5AC252030FD1}"/>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022605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273D2C-C77D-3711-4F3A-2F3F84320B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377B6A-BA3B-16FA-85CF-023CF4ACB0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88C8B6-3B08-7D10-B3E6-A54375609C63}"/>
              </a:ext>
            </a:extLst>
          </p:cNvPr>
          <p:cNvSpPr>
            <a:spLocks noGrp="1"/>
          </p:cNvSpPr>
          <p:nvPr>
            <p:ph type="dt" sz="half" idx="10"/>
          </p:nvPr>
        </p:nvSpPr>
        <p:spPr/>
        <p:txBody>
          <a:bodyPr/>
          <a:lstStyle/>
          <a:p>
            <a:fld id="{F894DDCF-9E84-D949-B336-2169DCDD9F8F}" type="datetimeFigureOut">
              <a:rPr lang="en-US" smtClean="0"/>
              <a:t>9/24/2025</a:t>
            </a:fld>
            <a:endParaRPr lang="en-US"/>
          </a:p>
        </p:txBody>
      </p:sp>
      <p:sp>
        <p:nvSpPr>
          <p:cNvPr id="5" name="Footer Placeholder 4">
            <a:extLst>
              <a:ext uri="{FF2B5EF4-FFF2-40B4-BE49-F238E27FC236}">
                <a16:creationId xmlns:a16="http://schemas.microsoft.com/office/drawing/2014/main" id="{45CA3E3F-D450-4545-7CBF-BA6B10F41D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758279-544B-EB5B-A2DA-D55AE007FA4E}"/>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021820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4315F7-5183-4237-58A1-4A2CF4043B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3FB21B-3262-D78B-697E-BA73ACD97E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F2A6F-729A-118C-ACAF-0DED9444A0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94DDCF-9E84-D949-B336-2169DCDD9F8F}" type="datetimeFigureOut">
              <a:rPr lang="en-US" smtClean="0"/>
              <a:t>9/24/2025</a:t>
            </a:fld>
            <a:endParaRPr lang="en-US"/>
          </a:p>
        </p:txBody>
      </p:sp>
      <p:sp>
        <p:nvSpPr>
          <p:cNvPr id="5" name="Footer Placeholder 4">
            <a:extLst>
              <a:ext uri="{FF2B5EF4-FFF2-40B4-BE49-F238E27FC236}">
                <a16:creationId xmlns:a16="http://schemas.microsoft.com/office/drawing/2014/main" id="{E4AF71A1-B29D-4FA0-38D3-F595DC21A3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26EA5C-DC94-90CD-790D-F65B002F7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D94481-B016-B243-99B4-D93ABE63ABD5}" type="slidenum">
              <a:rPr lang="en-US" smtClean="0"/>
              <a:t>‹#›</a:t>
            </a:fld>
            <a:endParaRPr lang="en-US"/>
          </a:p>
        </p:txBody>
      </p:sp>
      <p:sp>
        <p:nvSpPr>
          <p:cNvPr id="8" name="TextBox 7">
            <a:extLst>
              <a:ext uri="{FF2B5EF4-FFF2-40B4-BE49-F238E27FC236}">
                <a16:creationId xmlns:a16="http://schemas.microsoft.com/office/drawing/2014/main" id="{D46CAA68-FDB3-6E6A-8EE4-EF29D09182C7}"/>
              </a:ext>
            </a:extLst>
          </p:cNvPr>
          <p:cNvSpPr txBox="1"/>
          <p:nvPr userDrawn="1">
            <p:extLst>
              <p:ext uri="{1162E1C5-73C7-4A58-AE30-91384D911F3F}">
                <p184:classification xmlns:p184="http://schemas.microsoft.com/office/powerpoint/2018/4/main" val="hdr"/>
              </p:ext>
            </p:extLst>
          </p:nvPr>
        </p:nvSpPr>
        <p:spPr>
          <a:xfrm>
            <a:off x="5480050" y="63500"/>
            <a:ext cx="1254125"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cs typeface="Calibri" panose="020F0502020204030204" pitchFamily="34" charset="0"/>
              </a:rPr>
              <a:t>SMU Classification: Restricted</a:t>
            </a:r>
          </a:p>
        </p:txBody>
      </p:sp>
    </p:spTree>
    <p:extLst>
      <p:ext uri="{BB962C8B-B14F-4D97-AF65-F5344CB8AC3E}">
        <p14:creationId xmlns:p14="http://schemas.microsoft.com/office/powerpoint/2010/main" val="1827220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9">
            <a:extLst>
              <a:ext uri="{FF2B5EF4-FFF2-40B4-BE49-F238E27FC236}">
                <a16:creationId xmlns:a16="http://schemas.microsoft.com/office/drawing/2014/main" id="{B5FD84DC-3EC2-AAAB-10C6-1F777DE39955}"/>
              </a:ext>
            </a:extLst>
          </p:cNvPr>
          <p:cNvSpPr/>
          <p:nvPr/>
        </p:nvSpPr>
        <p:spPr>
          <a:xfrm>
            <a:off x="385442" y="2072128"/>
            <a:ext cx="2326788" cy="2773391"/>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a:p>
        </p:txBody>
      </p:sp>
      <p:sp>
        <p:nvSpPr>
          <p:cNvPr id="12" name="Rectangle: Rounded Corners 27">
            <a:extLst>
              <a:ext uri="{FF2B5EF4-FFF2-40B4-BE49-F238E27FC236}">
                <a16:creationId xmlns:a16="http://schemas.microsoft.com/office/drawing/2014/main" id="{BCA70529-3306-00B1-12A3-719F142921AD}"/>
              </a:ext>
            </a:extLst>
          </p:cNvPr>
          <p:cNvSpPr/>
          <p:nvPr/>
        </p:nvSpPr>
        <p:spPr>
          <a:xfrm>
            <a:off x="534922" y="3875680"/>
            <a:ext cx="2049698" cy="84806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200"/>
              </a:spcAft>
            </a:pPr>
            <a:r>
              <a:rPr lang="en-SG" sz="800" b="1" dirty="0">
                <a:solidFill>
                  <a:schemeClr val="tx1"/>
                </a:solidFill>
              </a:rPr>
              <a:t>LLM Sentiment Features</a:t>
            </a:r>
          </a:p>
          <a:p>
            <a:pPr algn="ctr">
              <a:lnSpc>
                <a:spcPts val="600"/>
              </a:lnSpc>
            </a:pPr>
            <a:r>
              <a:rPr lang="en-SG" sz="700" dirty="0">
                <a:solidFill>
                  <a:schemeClr val="tx1"/>
                </a:solidFill>
              </a:rPr>
              <a:t>After obtaining the sentiment rating for each of the home and away teams from the LLM, the final sentiment score is defined as the difference between the home and away sentiment ratings (home minus away)</a:t>
            </a:r>
            <a:endParaRPr lang="en-SG" sz="700" b="1" dirty="0">
              <a:solidFill>
                <a:schemeClr val="tx1"/>
              </a:solidFill>
            </a:endParaRPr>
          </a:p>
          <a:p>
            <a:pPr algn="ctr">
              <a:spcBef>
                <a:spcPts val="300"/>
              </a:spcBef>
            </a:pPr>
            <a:r>
              <a:rPr lang="en-SG" sz="700" b="1" dirty="0">
                <a:solidFill>
                  <a:schemeClr val="tx1"/>
                </a:solidFill>
              </a:rPr>
              <a:t>Output: sentiment score as a feature</a:t>
            </a:r>
          </a:p>
        </p:txBody>
      </p:sp>
      <p:sp>
        <p:nvSpPr>
          <p:cNvPr id="19" name="Rectangle: Rounded Corners 68">
            <a:extLst>
              <a:ext uri="{FF2B5EF4-FFF2-40B4-BE49-F238E27FC236}">
                <a16:creationId xmlns:a16="http://schemas.microsoft.com/office/drawing/2014/main" id="{35351C36-7BC6-0E43-5FEE-0D7ABC465A72}"/>
              </a:ext>
            </a:extLst>
          </p:cNvPr>
          <p:cNvSpPr/>
          <p:nvPr/>
        </p:nvSpPr>
        <p:spPr>
          <a:xfrm>
            <a:off x="2930476" y="1162744"/>
            <a:ext cx="2305945" cy="2712936"/>
          </a:xfrm>
          <a:prstGeom prst="roundRect">
            <a:avLst/>
          </a:prstGeom>
          <a:solidFill>
            <a:srgbClr val="FDFE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dirty="0">
              <a:highlight>
                <a:srgbClr val="FFFF00"/>
              </a:highlight>
            </a:endParaRPr>
          </a:p>
        </p:txBody>
      </p:sp>
      <p:sp>
        <p:nvSpPr>
          <p:cNvPr id="20" name="TextBox 19">
            <a:extLst>
              <a:ext uri="{FF2B5EF4-FFF2-40B4-BE49-F238E27FC236}">
                <a16:creationId xmlns:a16="http://schemas.microsoft.com/office/drawing/2014/main" id="{E0981C2C-6EC2-D387-D108-1AE7EB2BD0ED}"/>
              </a:ext>
            </a:extLst>
          </p:cNvPr>
          <p:cNvSpPr txBox="1"/>
          <p:nvPr/>
        </p:nvSpPr>
        <p:spPr>
          <a:xfrm>
            <a:off x="2924288" y="1158554"/>
            <a:ext cx="2388087" cy="326243"/>
          </a:xfrm>
          <a:prstGeom prst="rect">
            <a:avLst/>
          </a:prstGeom>
          <a:noFill/>
        </p:spPr>
        <p:txBody>
          <a:bodyPr wrap="square" rtlCol="0">
            <a:spAutoFit/>
          </a:bodyPr>
          <a:lstStyle/>
          <a:p>
            <a:pPr algn="ctr">
              <a:lnSpc>
                <a:spcPts val="900"/>
              </a:lnSpc>
            </a:pPr>
            <a:r>
              <a:rPr lang="en-SG" sz="900" b="1" dirty="0"/>
              <a:t>(c) Machine Learning Models </a:t>
            </a:r>
          </a:p>
          <a:p>
            <a:pPr algn="ctr">
              <a:lnSpc>
                <a:spcPts val="900"/>
              </a:lnSpc>
            </a:pPr>
            <a:r>
              <a:rPr lang="en-SG" sz="900" b="1" dirty="0"/>
              <a:t>&amp; Learning Pipeline</a:t>
            </a:r>
          </a:p>
        </p:txBody>
      </p:sp>
      <p:cxnSp>
        <p:nvCxnSpPr>
          <p:cNvPr id="23" name="Straight Arrow Connector 22">
            <a:extLst>
              <a:ext uri="{FF2B5EF4-FFF2-40B4-BE49-F238E27FC236}">
                <a16:creationId xmlns:a16="http://schemas.microsoft.com/office/drawing/2014/main" id="{5A94FDC9-62D7-04E7-F3F8-7FB14A2FFDEE}"/>
              </a:ext>
            </a:extLst>
          </p:cNvPr>
          <p:cNvCxnSpPr>
            <a:cxnSpLocks/>
            <a:stCxn id="12" idx="3"/>
            <a:endCxn id="22" idx="1"/>
          </p:cNvCxnSpPr>
          <p:nvPr/>
        </p:nvCxnSpPr>
        <p:spPr>
          <a:xfrm flipV="1">
            <a:off x="2584620" y="2114658"/>
            <a:ext cx="466137" cy="2185053"/>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4" name="Rectangle: Rounded Corners 3">
            <a:extLst>
              <a:ext uri="{FF2B5EF4-FFF2-40B4-BE49-F238E27FC236}">
                <a16:creationId xmlns:a16="http://schemas.microsoft.com/office/drawing/2014/main" id="{EB4F9F9C-51F5-2290-60D8-1F1877B2B3BE}"/>
              </a:ext>
            </a:extLst>
          </p:cNvPr>
          <p:cNvSpPr/>
          <p:nvPr/>
        </p:nvSpPr>
        <p:spPr>
          <a:xfrm>
            <a:off x="486132" y="1179315"/>
            <a:ext cx="2083442" cy="738614"/>
          </a:xfrm>
          <a:prstGeom prst="roundRect">
            <a:avLst/>
          </a:prstGeom>
          <a:solidFill>
            <a:schemeClr val="accent1">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748" dirty="0"/>
          </a:p>
        </p:txBody>
      </p:sp>
      <p:sp>
        <p:nvSpPr>
          <p:cNvPr id="5" name="TextBox 4">
            <a:extLst>
              <a:ext uri="{FF2B5EF4-FFF2-40B4-BE49-F238E27FC236}">
                <a16:creationId xmlns:a16="http://schemas.microsoft.com/office/drawing/2014/main" id="{2DD4EACD-3BC9-E96F-C403-3CCD4ACA046A}"/>
              </a:ext>
            </a:extLst>
          </p:cNvPr>
          <p:cNvSpPr txBox="1"/>
          <p:nvPr/>
        </p:nvSpPr>
        <p:spPr>
          <a:xfrm>
            <a:off x="774164" y="1186060"/>
            <a:ext cx="1614029" cy="230832"/>
          </a:xfrm>
          <a:prstGeom prst="rect">
            <a:avLst/>
          </a:prstGeom>
          <a:noFill/>
        </p:spPr>
        <p:txBody>
          <a:bodyPr wrap="square" rtlCol="0">
            <a:spAutoFit/>
          </a:bodyPr>
          <a:lstStyle/>
          <a:p>
            <a:pPr algn="ctr"/>
            <a:r>
              <a:rPr lang="en-SG" sz="900" b="1" dirty="0"/>
              <a:t>(a) Data Collection</a:t>
            </a:r>
          </a:p>
        </p:txBody>
      </p:sp>
      <p:grpSp>
        <p:nvGrpSpPr>
          <p:cNvPr id="42" name="Group 41">
            <a:extLst>
              <a:ext uri="{FF2B5EF4-FFF2-40B4-BE49-F238E27FC236}">
                <a16:creationId xmlns:a16="http://schemas.microsoft.com/office/drawing/2014/main" id="{53B010C6-4146-81E1-FD85-B3C8B2CB9460}"/>
              </a:ext>
            </a:extLst>
          </p:cNvPr>
          <p:cNvGrpSpPr/>
          <p:nvPr/>
        </p:nvGrpSpPr>
        <p:grpSpPr>
          <a:xfrm>
            <a:off x="628101" y="1424669"/>
            <a:ext cx="887327" cy="394493"/>
            <a:chOff x="1812638" y="1416003"/>
            <a:chExt cx="818066" cy="410016"/>
          </a:xfrm>
        </p:grpSpPr>
        <p:sp>
          <p:nvSpPr>
            <p:cNvPr id="7" name="Rectangle: Rounded Corners 7">
              <a:extLst>
                <a:ext uri="{FF2B5EF4-FFF2-40B4-BE49-F238E27FC236}">
                  <a16:creationId xmlns:a16="http://schemas.microsoft.com/office/drawing/2014/main" id="{A37E7746-9350-63F2-B13F-C69262A20C6A}"/>
                </a:ext>
              </a:extLst>
            </p:cNvPr>
            <p:cNvSpPr/>
            <p:nvPr/>
          </p:nvSpPr>
          <p:spPr>
            <a:xfrm>
              <a:off x="1812638" y="1416003"/>
              <a:ext cx="790934" cy="4100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500" dirty="0">
                <a:solidFill>
                  <a:schemeClr val="tx1"/>
                </a:solidFill>
              </a:endParaRPr>
            </a:p>
          </p:txBody>
        </p:sp>
        <p:sp>
          <p:nvSpPr>
            <p:cNvPr id="14" name="TextBox 13">
              <a:extLst>
                <a:ext uri="{FF2B5EF4-FFF2-40B4-BE49-F238E27FC236}">
                  <a16:creationId xmlns:a16="http://schemas.microsoft.com/office/drawing/2014/main" id="{09DCD758-896A-E738-808A-F2353A8D993D}"/>
                </a:ext>
              </a:extLst>
            </p:cNvPr>
            <p:cNvSpPr txBox="1"/>
            <p:nvPr/>
          </p:nvSpPr>
          <p:spPr>
            <a:xfrm>
              <a:off x="1831992" y="1427266"/>
              <a:ext cx="48928" cy="256043"/>
            </a:xfrm>
            <a:prstGeom prst="rect">
              <a:avLst/>
            </a:prstGeom>
            <a:noFill/>
          </p:spPr>
          <p:txBody>
            <a:bodyPr wrap="square" rtlCol="0">
              <a:spAutoFit/>
            </a:bodyPr>
            <a:lstStyle/>
            <a:p>
              <a:r>
                <a:rPr lang="en-SG" sz="1001" i="1" dirty="0">
                  <a:latin typeface="fkGroteskNeue"/>
                </a:rPr>
                <a:t>📰</a:t>
              </a:r>
              <a:endParaRPr lang="en-SG" sz="1001" dirty="0"/>
            </a:p>
          </p:txBody>
        </p:sp>
        <p:sp>
          <p:nvSpPr>
            <p:cNvPr id="15" name="TextBox 14">
              <a:extLst>
                <a:ext uri="{FF2B5EF4-FFF2-40B4-BE49-F238E27FC236}">
                  <a16:creationId xmlns:a16="http://schemas.microsoft.com/office/drawing/2014/main" id="{0A151E01-A4F1-649D-5941-D05E7F4C01B6}"/>
                </a:ext>
              </a:extLst>
            </p:cNvPr>
            <p:cNvSpPr txBox="1"/>
            <p:nvPr/>
          </p:nvSpPr>
          <p:spPr>
            <a:xfrm>
              <a:off x="1908052" y="1488174"/>
              <a:ext cx="722652" cy="319888"/>
            </a:xfrm>
            <a:prstGeom prst="rect">
              <a:avLst/>
            </a:prstGeom>
            <a:noFill/>
          </p:spPr>
          <p:txBody>
            <a:bodyPr wrap="square" rtlCol="0">
              <a:spAutoFit/>
            </a:bodyPr>
            <a:lstStyle/>
            <a:p>
              <a:r>
                <a:rPr lang="en-SG" sz="700" dirty="0"/>
                <a:t>   BBC Commentaries</a:t>
              </a:r>
              <a:endParaRPr lang="en-SG" sz="600" dirty="0"/>
            </a:p>
          </p:txBody>
        </p:sp>
      </p:grpSp>
      <p:cxnSp>
        <p:nvCxnSpPr>
          <p:cNvPr id="16" name="Straight Arrow Connector 15">
            <a:extLst>
              <a:ext uri="{FF2B5EF4-FFF2-40B4-BE49-F238E27FC236}">
                <a16:creationId xmlns:a16="http://schemas.microsoft.com/office/drawing/2014/main" id="{8B28CABE-F149-767D-351D-36431BB60D1A}"/>
              </a:ext>
            </a:extLst>
          </p:cNvPr>
          <p:cNvCxnSpPr>
            <a:cxnSpLocks/>
            <a:stCxn id="7" idx="2"/>
            <a:endCxn id="10" idx="1"/>
          </p:cNvCxnSpPr>
          <p:nvPr/>
        </p:nvCxnSpPr>
        <p:spPr>
          <a:xfrm rot="5400000">
            <a:off x="401454" y="1927914"/>
            <a:ext cx="764348" cy="546844"/>
          </a:xfrm>
          <a:prstGeom prst="bentConnector4">
            <a:avLst>
              <a:gd name="adj1" fmla="val 23404"/>
              <a:gd name="adj2" fmla="val 133337"/>
            </a:avLst>
          </a:prstGeom>
          <a:ln>
            <a:tailEnd type="triangle"/>
          </a:ln>
        </p:spPr>
        <p:style>
          <a:lnRef idx="2">
            <a:schemeClr val="dk1"/>
          </a:lnRef>
          <a:fillRef idx="0">
            <a:schemeClr val="dk1"/>
          </a:fillRef>
          <a:effectRef idx="1">
            <a:schemeClr val="dk1"/>
          </a:effectRef>
          <a:fontRef idx="minor">
            <a:schemeClr val="tx1"/>
          </a:fontRef>
        </p:style>
      </p:cxnSp>
      <p:sp>
        <p:nvSpPr>
          <p:cNvPr id="72" name="Rectangle: Rounded Corners 157">
            <a:extLst>
              <a:ext uri="{FF2B5EF4-FFF2-40B4-BE49-F238E27FC236}">
                <a16:creationId xmlns:a16="http://schemas.microsoft.com/office/drawing/2014/main" id="{E0887879-5919-4EFE-F013-103BE36DC57D}"/>
              </a:ext>
            </a:extLst>
          </p:cNvPr>
          <p:cNvSpPr/>
          <p:nvPr/>
        </p:nvSpPr>
        <p:spPr>
          <a:xfrm>
            <a:off x="2924288" y="4034284"/>
            <a:ext cx="2325645" cy="765310"/>
          </a:xfrm>
          <a:prstGeom prst="roundRect">
            <a:avLst/>
          </a:prstGeom>
          <a:solidFill>
            <a:schemeClr val="accent2">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500" dirty="0"/>
          </a:p>
          <a:p>
            <a:pPr algn="ctr"/>
            <a:endParaRPr lang="en-SG" sz="500" dirty="0"/>
          </a:p>
        </p:txBody>
      </p:sp>
      <p:sp>
        <p:nvSpPr>
          <p:cNvPr id="73" name="TextBox 72">
            <a:extLst>
              <a:ext uri="{FF2B5EF4-FFF2-40B4-BE49-F238E27FC236}">
                <a16:creationId xmlns:a16="http://schemas.microsoft.com/office/drawing/2014/main" id="{6D8C1F8F-AE00-B1F1-DD96-CEBE961031C8}"/>
              </a:ext>
            </a:extLst>
          </p:cNvPr>
          <p:cNvSpPr txBox="1"/>
          <p:nvPr/>
        </p:nvSpPr>
        <p:spPr>
          <a:xfrm>
            <a:off x="3114955" y="4070248"/>
            <a:ext cx="1646973" cy="230832"/>
          </a:xfrm>
          <a:prstGeom prst="rect">
            <a:avLst/>
          </a:prstGeom>
          <a:noFill/>
        </p:spPr>
        <p:txBody>
          <a:bodyPr wrap="square" rtlCol="0">
            <a:spAutoFit/>
          </a:bodyPr>
          <a:lstStyle/>
          <a:p>
            <a:pPr algn="ctr"/>
            <a:r>
              <a:rPr lang="en-SG" sz="900" dirty="0"/>
              <a:t>           </a:t>
            </a:r>
            <a:r>
              <a:rPr lang="en-SG" sz="900" b="1" dirty="0"/>
              <a:t>(d) Betting Simulation </a:t>
            </a:r>
          </a:p>
        </p:txBody>
      </p:sp>
      <p:pic>
        <p:nvPicPr>
          <p:cNvPr id="74" name="Picture 4" descr="Betting ">
            <a:extLst>
              <a:ext uri="{FF2B5EF4-FFF2-40B4-BE49-F238E27FC236}">
                <a16:creationId xmlns:a16="http://schemas.microsoft.com/office/drawing/2014/main" id="{9B776B68-76F5-F0C9-637C-A27DE6066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6821" y="4038712"/>
            <a:ext cx="245172" cy="264526"/>
          </a:xfrm>
          <a:prstGeom prst="rect">
            <a:avLst/>
          </a:prstGeom>
          <a:noFill/>
          <a:extLst>
            <a:ext uri="{909E8E84-426E-40DD-AFC4-6F175D3DCCD1}">
              <a14:hiddenFill xmlns:a14="http://schemas.microsoft.com/office/drawing/2010/main">
                <a:solidFill>
                  <a:srgbClr val="FFFFFF"/>
                </a:solidFill>
              </a14:hiddenFill>
            </a:ext>
          </a:extLst>
        </p:spPr>
      </p:pic>
      <p:sp>
        <p:nvSpPr>
          <p:cNvPr id="75" name="Rectangle: Rounded Corners 170">
            <a:extLst>
              <a:ext uri="{FF2B5EF4-FFF2-40B4-BE49-F238E27FC236}">
                <a16:creationId xmlns:a16="http://schemas.microsoft.com/office/drawing/2014/main" id="{957951E3-2C83-8AE6-3006-682C07A088E4}"/>
              </a:ext>
            </a:extLst>
          </p:cNvPr>
          <p:cNvSpPr/>
          <p:nvPr/>
        </p:nvSpPr>
        <p:spPr>
          <a:xfrm>
            <a:off x="3062336" y="4305270"/>
            <a:ext cx="2050533" cy="4184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700" dirty="0">
                <a:solidFill>
                  <a:schemeClr val="tx1"/>
                </a:solidFill>
              </a:rPr>
              <a:t>Start with $10000 bankroll, bet one-eighth Kelly for every model and only bet when there is a positive expected value (EV). </a:t>
            </a:r>
          </a:p>
        </p:txBody>
      </p:sp>
      <p:sp>
        <p:nvSpPr>
          <p:cNvPr id="9" name="TextBox 8">
            <a:extLst>
              <a:ext uri="{FF2B5EF4-FFF2-40B4-BE49-F238E27FC236}">
                <a16:creationId xmlns:a16="http://schemas.microsoft.com/office/drawing/2014/main" id="{7A9F3763-E8A9-7327-65A4-1BE1710A72D1}"/>
              </a:ext>
            </a:extLst>
          </p:cNvPr>
          <p:cNvSpPr txBox="1"/>
          <p:nvPr/>
        </p:nvSpPr>
        <p:spPr>
          <a:xfrm>
            <a:off x="812607" y="2096138"/>
            <a:ext cx="1819414" cy="230832"/>
          </a:xfrm>
          <a:prstGeom prst="rect">
            <a:avLst/>
          </a:prstGeom>
          <a:noFill/>
        </p:spPr>
        <p:txBody>
          <a:bodyPr wrap="square" rtlCol="0">
            <a:spAutoFit/>
          </a:bodyPr>
          <a:lstStyle/>
          <a:p>
            <a:r>
              <a:rPr lang="en-SG" sz="900" b="1" dirty="0"/>
              <a:t>(b) LLM Sentiment Analysis</a:t>
            </a:r>
          </a:p>
        </p:txBody>
      </p:sp>
      <p:cxnSp>
        <p:nvCxnSpPr>
          <p:cNvPr id="47" name="Straight Arrow Connector 46">
            <a:extLst>
              <a:ext uri="{FF2B5EF4-FFF2-40B4-BE49-F238E27FC236}">
                <a16:creationId xmlns:a16="http://schemas.microsoft.com/office/drawing/2014/main" id="{2D85C62B-59D9-401C-A651-7B711B6E7929}"/>
              </a:ext>
            </a:extLst>
          </p:cNvPr>
          <p:cNvCxnSpPr>
            <a:cxnSpLocks/>
          </p:cNvCxnSpPr>
          <p:nvPr/>
        </p:nvCxnSpPr>
        <p:spPr>
          <a:xfrm>
            <a:off x="2249305" y="1613969"/>
            <a:ext cx="80144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A37717A6-DF68-60C6-27FE-776E3EA89E38}"/>
              </a:ext>
            </a:extLst>
          </p:cNvPr>
          <p:cNvCxnSpPr>
            <a:cxnSpLocks/>
          </p:cNvCxnSpPr>
          <p:nvPr/>
        </p:nvCxnSpPr>
        <p:spPr>
          <a:xfrm>
            <a:off x="4101454" y="3778754"/>
            <a:ext cx="0" cy="2555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8" name="Rectangle: Rounded Corners 138">
            <a:extLst>
              <a:ext uri="{FF2B5EF4-FFF2-40B4-BE49-F238E27FC236}">
                <a16:creationId xmlns:a16="http://schemas.microsoft.com/office/drawing/2014/main" id="{1A5BC18D-3838-E40F-C057-92CDC6BD3B71}"/>
              </a:ext>
            </a:extLst>
          </p:cNvPr>
          <p:cNvSpPr/>
          <p:nvPr/>
        </p:nvSpPr>
        <p:spPr>
          <a:xfrm>
            <a:off x="3050746" y="3358141"/>
            <a:ext cx="2062123"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200"/>
              </a:spcAft>
            </a:pPr>
            <a:r>
              <a:rPr lang="en-SG" sz="800" b="1" dirty="0">
                <a:solidFill>
                  <a:schemeClr val="tx1"/>
                </a:solidFill>
              </a:rPr>
              <a:t>Final Model Training</a:t>
            </a:r>
          </a:p>
          <a:p>
            <a:pPr algn="ctr">
              <a:lnSpc>
                <a:spcPts val="600"/>
              </a:lnSpc>
            </a:pPr>
            <a:r>
              <a:rPr lang="en-SG" sz="700" dirty="0">
                <a:solidFill>
                  <a:schemeClr val="tx1"/>
                </a:solidFill>
              </a:rPr>
              <a:t>Models used: Logistic Regression, SVC, </a:t>
            </a:r>
          </a:p>
          <a:p>
            <a:pPr algn="ctr">
              <a:lnSpc>
                <a:spcPts val="600"/>
              </a:lnSpc>
            </a:pPr>
            <a:r>
              <a:rPr lang="en-SG" sz="700" dirty="0">
                <a:solidFill>
                  <a:schemeClr val="tx1"/>
                </a:solidFill>
              </a:rPr>
              <a:t>Random Forest, </a:t>
            </a:r>
            <a:r>
              <a:rPr lang="en-SG" sz="700" dirty="0" err="1">
                <a:solidFill>
                  <a:schemeClr val="tx1"/>
                </a:solidFill>
              </a:rPr>
              <a:t>XGBoost</a:t>
            </a:r>
            <a:endParaRPr lang="en-SG" sz="700" dirty="0">
              <a:solidFill>
                <a:schemeClr val="tx1"/>
              </a:solidFill>
            </a:endParaRPr>
          </a:p>
          <a:p>
            <a:pPr algn="ctr">
              <a:lnSpc>
                <a:spcPts val="600"/>
              </a:lnSpc>
            </a:pPr>
            <a:r>
              <a:rPr lang="en-SG" sz="700" dirty="0">
                <a:solidFill>
                  <a:schemeClr val="tx1"/>
                </a:solidFill>
              </a:rPr>
              <a:t>Data used: training set + testing set</a:t>
            </a:r>
          </a:p>
        </p:txBody>
      </p:sp>
      <p:cxnSp>
        <p:nvCxnSpPr>
          <p:cNvPr id="69" name="Straight Arrow Connector 68">
            <a:extLst>
              <a:ext uri="{FF2B5EF4-FFF2-40B4-BE49-F238E27FC236}">
                <a16:creationId xmlns:a16="http://schemas.microsoft.com/office/drawing/2014/main" id="{43B15A99-21CC-5310-70C2-6CD8FDE5D504}"/>
              </a:ext>
            </a:extLst>
          </p:cNvPr>
          <p:cNvCxnSpPr>
            <a:cxnSpLocks/>
          </p:cNvCxnSpPr>
          <p:nvPr/>
        </p:nvCxnSpPr>
        <p:spPr>
          <a:xfrm flipH="1">
            <a:off x="4111033" y="1726464"/>
            <a:ext cx="2" cy="187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2856FCAD-DF50-AC71-F743-A5708E772ED8}"/>
              </a:ext>
            </a:extLst>
          </p:cNvPr>
          <p:cNvCxnSpPr>
            <a:cxnSpLocks/>
          </p:cNvCxnSpPr>
          <p:nvPr/>
        </p:nvCxnSpPr>
        <p:spPr>
          <a:xfrm>
            <a:off x="4111033" y="2190411"/>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6" name="Straight Arrow Connector 75">
            <a:extLst>
              <a:ext uri="{FF2B5EF4-FFF2-40B4-BE49-F238E27FC236}">
                <a16:creationId xmlns:a16="http://schemas.microsoft.com/office/drawing/2014/main" id="{4CB5C244-7E2A-76DC-18B2-319DF60B7AEF}"/>
              </a:ext>
            </a:extLst>
          </p:cNvPr>
          <p:cNvCxnSpPr>
            <a:cxnSpLocks/>
          </p:cNvCxnSpPr>
          <p:nvPr/>
        </p:nvCxnSpPr>
        <p:spPr>
          <a:xfrm>
            <a:off x="4111033" y="2622266"/>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7" name="Straight Arrow Connector 76">
            <a:extLst>
              <a:ext uri="{FF2B5EF4-FFF2-40B4-BE49-F238E27FC236}">
                <a16:creationId xmlns:a16="http://schemas.microsoft.com/office/drawing/2014/main" id="{99DB5E47-DCB4-17BD-9EB8-E5188EEDCF41}"/>
              </a:ext>
            </a:extLst>
          </p:cNvPr>
          <p:cNvCxnSpPr>
            <a:cxnSpLocks/>
          </p:cNvCxnSpPr>
          <p:nvPr/>
        </p:nvCxnSpPr>
        <p:spPr>
          <a:xfrm>
            <a:off x="4111024" y="3090250"/>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Rectangle: Rounded Corners 79">
            <a:extLst>
              <a:ext uri="{FF2B5EF4-FFF2-40B4-BE49-F238E27FC236}">
                <a16:creationId xmlns:a16="http://schemas.microsoft.com/office/drawing/2014/main" id="{F4464FF2-13A5-10C4-2D20-FBE208DD5997}"/>
              </a:ext>
            </a:extLst>
          </p:cNvPr>
          <p:cNvSpPr/>
          <p:nvPr/>
        </p:nvSpPr>
        <p:spPr>
          <a:xfrm>
            <a:off x="3050757" y="1897332"/>
            <a:ext cx="2062123" cy="4346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1"/>
                </a:solidFill>
              </a:rPr>
              <a:t>Feature Engineering</a:t>
            </a:r>
          </a:p>
          <a:p>
            <a:pPr algn="ctr">
              <a:lnSpc>
                <a:spcPts val="600"/>
              </a:lnSpc>
            </a:pPr>
            <a:r>
              <a:rPr lang="en-SG" sz="700" dirty="0">
                <a:solidFill>
                  <a:schemeClr val="tx1"/>
                </a:solidFill>
              </a:rPr>
              <a:t>Remove highly correlated features, then use sequential forward selection  (highest accuracy)</a:t>
            </a:r>
          </a:p>
          <a:p>
            <a:pPr algn="ctr">
              <a:lnSpc>
                <a:spcPts val="600"/>
              </a:lnSpc>
            </a:pPr>
            <a:r>
              <a:rPr lang="en-SG" sz="700" dirty="0">
                <a:solidFill>
                  <a:schemeClr val="tx1"/>
                </a:solidFill>
              </a:rPr>
              <a:t>For LLM-enhanced models, add the LLM feature from LLM sentiment analysis</a:t>
            </a:r>
          </a:p>
        </p:txBody>
      </p:sp>
      <p:sp>
        <p:nvSpPr>
          <p:cNvPr id="25" name="Rectangle: Rounded Corners 137">
            <a:extLst>
              <a:ext uri="{FF2B5EF4-FFF2-40B4-BE49-F238E27FC236}">
                <a16:creationId xmlns:a16="http://schemas.microsoft.com/office/drawing/2014/main" id="{5FDDDBF0-F5C3-F68F-7576-47E9BBEF9C1D}"/>
              </a:ext>
            </a:extLst>
          </p:cNvPr>
          <p:cNvSpPr/>
          <p:nvPr/>
        </p:nvSpPr>
        <p:spPr>
          <a:xfrm>
            <a:off x="3062337" y="2456567"/>
            <a:ext cx="2051312" cy="30901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200"/>
              </a:spcAft>
            </a:pPr>
            <a:r>
              <a:rPr lang="en-SG" sz="800" b="1" dirty="0">
                <a:solidFill>
                  <a:schemeClr val="tx1"/>
                </a:solidFill>
              </a:rPr>
              <a:t>Hyperparameter Tuning</a:t>
            </a:r>
          </a:p>
          <a:p>
            <a:pPr algn="ctr">
              <a:lnSpc>
                <a:spcPts val="600"/>
              </a:lnSpc>
            </a:pPr>
            <a:r>
              <a:rPr lang="en-SG" sz="700" dirty="0">
                <a:solidFill>
                  <a:schemeClr val="tx1"/>
                </a:solidFill>
              </a:rPr>
              <a:t>Grid search, using 5-fold cross-validation</a:t>
            </a:r>
          </a:p>
          <a:p>
            <a:pPr algn="ctr">
              <a:lnSpc>
                <a:spcPts val="600"/>
              </a:lnSpc>
            </a:pPr>
            <a:r>
              <a:rPr lang="en-SG" sz="700" dirty="0">
                <a:solidFill>
                  <a:schemeClr val="tx1"/>
                </a:solidFill>
              </a:rPr>
              <a:t>Optimise for accuracy (highest accuracy)</a:t>
            </a:r>
          </a:p>
        </p:txBody>
      </p:sp>
      <p:sp>
        <p:nvSpPr>
          <p:cNvPr id="21" name="Rectangle: Rounded Corners 73">
            <a:extLst>
              <a:ext uri="{FF2B5EF4-FFF2-40B4-BE49-F238E27FC236}">
                <a16:creationId xmlns:a16="http://schemas.microsoft.com/office/drawing/2014/main" id="{83487645-4F06-4AFD-FF53-D8F9E72669FE}"/>
              </a:ext>
            </a:extLst>
          </p:cNvPr>
          <p:cNvSpPr/>
          <p:nvPr/>
        </p:nvSpPr>
        <p:spPr>
          <a:xfrm>
            <a:off x="3050757" y="1453819"/>
            <a:ext cx="2062123" cy="33254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200"/>
              </a:spcAft>
            </a:pPr>
            <a:r>
              <a:rPr lang="en-SG" sz="800" b="1" dirty="0">
                <a:solidFill>
                  <a:schemeClr val="tx1"/>
                </a:solidFill>
              </a:rPr>
              <a:t>Data Preprocessing</a:t>
            </a:r>
          </a:p>
          <a:p>
            <a:pPr algn="ctr">
              <a:lnSpc>
                <a:spcPts val="600"/>
              </a:lnSpc>
            </a:pPr>
            <a:r>
              <a:rPr lang="en-SG" sz="700" dirty="0">
                <a:solidFill>
                  <a:schemeClr val="tx1"/>
                </a:solidFill>
              </a:rPr>
              <a:t>Take soccer statistics difference between home and away teams (home minus away) as features</a:t>
            </a:r>
          </a:p>
        </p:txBody>
      </p:sp>
      <p:sp>
        <p:nvSpPr>
          <p:cNvPr id="26" name="Rectangle: Rounded Corners 138">
            <a:extLst>
              <a:ext uri="{FF2B5EF4-FFF2-40B4-BE49-F238E27FC236}">
                <a16:creationId xmlns:a16="http://schemas.microsoft.com/office/drawing/2014/main" id="{CDC99D5E-F148-0B60-7551-36D88187515B}"/>
              </a:ext>
            </a:extLst>
          </p:cNvPr>
          <p:cNvSpPr/>
          <p:nvPr/>
        </p:nvSpPr>
        <p:spPr>
          <a:xfrm>
            <a:off x="3062336" y="2888587"/>
            <a:ext cx="2062123" cy="34248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200"/>
              </a:spcAft>
            </a:pPr>
            <a:r>
              <a:rPr lang="en-US" sz="800" b="1" dirty="0">
                <a:solidFill>
                  <a:schemeClr val="tx1"/>
                </a:solidFill>
              </a:rPr>
              <a:t>Model Training and Evaluation</a:t>
            </a:r>
          </a:p>
          <a:p>
            <a:pPr algn="ctr">
              <a:lnSpc>
                <a:spcPts val="600"/>
              </a:lnSpc>
            </a:pPr>
            <a:r>
              <a:rPr lang="en-US" sz="700" dirty="0">
                <a:solidFill>
                  <a:schemeClr val="tx1"/>
                </a:solidFill>
              </a:rPr>
              <a:t>Models used: Logistic Regression, SVC, </a:t>
            </a:r>
          </a:p>
          <a:p>
            <a:pPr algn="ctr">
              <a:lnSpc>
                <a:spcPts val="600"/>
              </a:lnSpc>
            </a:pPr>
            <a:r>
              <a:rPr lang="en-US" sz="700" dirty="0">
                <a:solidFill>
                  <a:schemeClr val="tx1"/>
                </a:solidFill>
              </a:rPr>
              <a:t>Random Forest, </a:t>
            </a:r>
            <a:r>
              <a:rPr lang="en-US" sz="700" dirty="0" err="1">
                <a:solidFill>
                  <a:schemeClr val="tx1"/>
                </a:solidFill>
              </a:rPr>
              <a:t>XGBoost</a:t>
            </a:r>
            <a:endParaRPr lang="en-SG" sz="700" dirty="0">
              <a:solidFill>
                <a:schemeClr val="tx1"/>
              </a:solidFill>
            </a:endParaRPr>
          </a:p>
        </p:txBody>
      </p:sp>
      <p:cxnSp>
        <p:nvCxnSpPr>
          <p:cNvPr id="102" name="Straight Arrow Connector 101">
            <a:extLst>
              <a:ext uri="{FF2B5EF4-FFF2-40B4-BE49-F238E27FC236}">
                <a16:creationId xmlns:a16="http://schemas.microsoft.com/office/drawing/2014/main" id="{24DB77F8-5282-148C-3D3B-33301F07085C}"/>
              </a:ext>
            </a:extLst>
          </p:cNvPr>
          <p:cNvCxnSpPr>
            <a:cxnSpLocks/>
          </p:cNvCxnSpPr>
          <p:nvPr/>
        </p:nvCxnSpPr>
        <p:spPr>
          <a:xfrm>
            <a:off x="1537595" y="2727122"/>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3" name="Straight Arrow Connector 102">
            <a:extLst>
              <a:ext uri="{FF2B5EF4-FFF2-40B4-BE49-F238E27FC236}">
                <a16:creationId xmlns:a16="http://schemas.microsoft.com/office/drawing/2014/main" id="{7F755402-760F-88A7-A7FF-E2C8E99F37D1}"/>
              </a:ext>
            </a:extLst>
          </p:cNvPr>
          <p:cNvCxnSpPr>
            <a:cxnSpLocks/>
          </p:cNvCxnSpPr>
          <p:nvPr/>
        </p:nvCxnSpPr>
        <p:spPr>
          <a:xfrm>
            <a:off x="1537586" y="3617582"/>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Rectangle: Rounded Corners 12">
            <a:extLst>
              <a:ext uri="{FF2B5EF4-FFF2-40B4-BE49-F238E27FC236}">
                <a16:creationId xmlns:a16="http://schemas.microsoft.com/office/drawing/2014/main" id="{20308DFB-EE78-DE2C-8B4E-7EFCB3D33D69}"/>
              </a:ext>
            </a:extLst>
          </p:cNvPr>
          <p:cNvSpPr/>
          <p:nvPr/>
        </p:nvSpPr>
        <p:spPr>
          <a:xfrm>
            <a:off x="510206" y="2327400"/>
            <a:ext cx="2088310" cy="5122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600"/>
              </a:lnSpc>
            </a:pPr>
            <a:endParaRPr lang="en-SG" sz="700" dirty="0">
              <a:solidFill>
                <a:schemeClr val="tx1"/>
              </a:solidFill>
            </a:endParaRPr>
          </a:p>
          <a:p>
            <a:pPr algn="ctr">
              <a:lnSpc>
                <a:spcPts val="600"/>
              </a:lnSpc>
            </a:pPr>
            <a:r>
              <a:rPr lang="en-SG" sz="700" dirty="0">
                <a:solidFill>
                  <a:schemeClr val="tx1"/>
                </a:solidFill>
              </a:rPr>
              <a:t>Predict the sentiment for each team for the upcoming match based on what happened in the previous match from the commentaries</a:t>
            </a:r>
          </a:p>
        </p:txBody>
      </p:sp>
      <p:sp>
        <p:nvSpPr>
          <p:cNvPr id="11" name="Rectangle: Rounded Corners 25">
            <a:extLst>
              <a:ext uri="{FF2B5EF4-FFF2-40B4-BE49-F238E27FC236}">
                <a16:creationId xmlns:a16="http://schemas.microsoft.com/office/drawing/2014/main" id="{1C6D8557-20C3-B386-643C-5C16B4485B3E}"/>
              </a:ext>
            </a:extLst>
          </p:cNvPr>
          <p:cNvSpPr/>
          <p:nvPr/>
        </p:nvSpPr>
        <p:spPr>
          <a:xfrm>
            <a:off x="515992" y="2999045"/>
            <a:ext cx="2079041" cy="7330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Aft>
                <a:spcPts val="200"/>
              </a:spcAft>
            </a:pPr>
            <a:r>
              <a:rPr lang="en-SG" sz="800" dirty="0">
                <a:solidFill>
                  <a:schemeClr val="tx1"/>
                </a:solidFill>
                <a:latin typeface="fkGroteskNeue"/>
              </a:rPr>
              <a:t>            </a:t>
            </a:r>
            <a:r>
              <a:rPr lang="en-SG" sz="800" b="1" dirty="0">
                <a:solidFill>
                  <a:schemeClr val="tx1"/>
                </a:solidFill>
                <a:latin typeface="Aptos" panose="020B0004020202020204" pitchFamily="34" charset="0"/>
              </a:rPr>
              <a:t>Team Sentiment Ratings </a:t>
            </a:r>
          </a:p>
          <a:p>
            <a:pPr algn="ctr">
              <a:lnSpc>
                <a:spcPts val="600"/>
              </a:lnSpc>
            </a:pPr>
            <a:r>
              <a:rPr lang="en-SG" sz="700" dirty="0">
                <a:solidFill>
                  <a:schemeClr val="tx1"/>
                </a:solidFill>
              </a:rPr>
              <a:t>Sentiment Scoring  (1–5 scale) :</a:t>
            </a:r>
          </a:p>
          <a:p>
            <a:pPr algn="ctr">
              <a:lnSpc>
                <a:spcPts val="600"/>
              </a:lnSpc>
            </a:pPr>
            <a:r>
              <a:rPr lang="en-SG" sz="700" dirty="0">
                <a:solidFill>
                  <a:schemeClr val="tx1"/>
                </a:solidFill>
              </a:rPr>
              <a:t> 5 = Strongly Positive; 4 = Positive; </a:t>
            </a:r>
          </a:p>
          <a:p>
            <a:pPr algn="ctr">
              <a:lnSpc>
                <a:spcPts val="600"/>
              </a:lnSpc>
            </a:pPr>
            <a:r>
              <a:rPr lang="en-SG" sz="700" dirty="0">
                <a:solidFill>
                  <a:schemeClr val="tx1"/>
                </a:solidFill>
              </a:rPr>
              <a:t>3 = Neutral; 2 = Negative; </a:t>
            </a:r>
          </a:p>
          <a:p>
            <a:pPr algn="ctr">
              <a:lnSpc>
                <a:spcPts val="600"/>
              </a:lnSpc>
            </a:pPr>
            <a:r>
              <a:rPr lang="en-SG" sz="700" dirty="0">
                <a:solidFill>
                  <a:schemeClr val="tx1"/>
                </a:solidFill>
              </a:rPr>
              <a:t>1 = Strongly Negative.</a:t>
            </a:r>
          </a:p>
          <a:p>
            <a:pPr algn="ctr">
              <a:lnSpc>
                <a:spcPts val="600"/>
              </a:lnSpc>
            </a:pPr>
            <a:r>
              <a:rPr lang="en-SG" sz="700" dirty="0">
                <a:solidFill>
                  <a:schemeClr val="tx1"/>
                </a:solidFill>
              </a:rPr>
              <a:t>Use LLM to get sentiment ratings for each team for the upcoming match</a:t>
            </a:r>
          </a:p>
        </p:txBody>
      </p:sp>
      <p:grpSp>
        <p:nvGrpSpPr>
          <p:cNvPr id="43" name="Group 42">
            <a:extLst>
              <a:ext uri="{FF2B5EF4-FFF2-40B4-BE49-F238E27FC236}">
                <a16:creationId xmlns:a16="http://schemas.microsoft.com/office/drawing/2014/main" id="{BA264A56-991A-E358-4CB6-FF1051769F58}"/>
              </a:ext>
            </a:extLst>
          </p:cNvPr>
          <p:cNvGrpSpPr/>
          <p:nvPr/>
        </p:nvGrpSpPr>
        <p:grpSpPr>
          <a:xfrm>
            <a:off x="1538910" y="1422876"/>
            <a:ext cx="895469" cy="394494"/>
            <a:chOff x="1037783" y="1389788"/>
            <a:chExt cx="825571" cy="410017"/>
          </a:xfrm>
        </p:grpSpPr>
        <p:sp>
          <p:nvSpPr>
            <p:cNvPr id="6" name="Rectangle: Rounded Corners 5">
              <a:extLst>
                <a:ext uri="{FF2B5EF4-FFF2-40B4-BE49-F238E27FC236}">
                  <a16:creationId xmlns:a16="http://schemas.microsoft.com/office/drawing/2014/main" id="{E590239E-D308-6C34-D196-DF4F5DDCE5E7}"/>
                </a:ext>
              </a:extLst>
            </p:cNvPr>
            <p:cNvSpPr/>
            <p:nvPr/>
          </p:nvSpPr>
          <p:spPr>
            <a:xfrm>
              <a:off x="1084000" y="1389788"/>
              <a:ext cx="779354" cy="41001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dirty="0">
                  <a:latin typeface="fkGroteskNeue"/>
                </a:rPr>
                <a:t> </a:t>
              </a:r>
              <a:r>
                <a:rPr lang="en-SG" sz="700" dirty="0">
                  <a:solidFill>
                    <a:schemeClr val="tx1"/>
                  </a:solidFill>
                </a:rPr>
                <a:t>Soccer </a:t>
              </a:r>
            </a:p>
            <a:p>
              <a:pPr algn="ctr"/>
              <a:r>
                <a:rPr lang="en-SG" sz="700" dirty="0">
                  <a:solidFill>
                    <a:schemeClr val="tx1"/>
                  </a:solidFill>
                </a:rPr>
                <a:t>Match Statistics</a:t>
              </a:r>
            </a:p>
          </p:txBody>
        </p:sp>
        <p:sp>
          <p:nvSpPr>
            <p:cNvPr id="13" name="TextBox 12">
              <a:extLst>
                <a:ext uri="{FF2B5EF4-FFF2-40B4-BE49-F238E27FC236}">
                  <a16:creationId xmlns:a16="http://schemas.microsoft.com/office/drawing/2014/main" id="{D2F485F7-188C-DD1F-32FC-F4BE246FEA42}"/>
                </a:ext>
              </a:extLst>
            </p:cNvPr>
            <p:cNvSpPr txBox="1"/>
            <p:nvPr/>
          </p:nvSpPr>
          <p:spPr>
            <a:xfrm>
              <a:off x="1037783" y="1391011"/>
              <a:ext cx="348837" cy="253467"/>
            </a:xfrm>
            <a:prstGeom prst="rect">
              <a:avLst/>
            </a:prstGeom>
            <a:noFill/>
          </p:spPr>
          <p:txBody>
            <a:bodyPr wrap="square" rtlCol="0">
              <a:spAutoFit/>
            </a:bodyPr>
            <a:lstStyle/>
            <a:p>
              <a:r>
                <a:rPr lang="en-SG" sz="1001" dirty="0">
                  <a:latin typeface="fkGroteskNeue"/>
                </a:rPr>
                <a:t>⚽</a:t>
              </a:r>
              <a:endParaRPr lang="en-SG" sz="1001" dirty="0"/>
            </a:p>
          </p:txBody>
        </p:sp>
      </p:grpSp>
      <p:sp>
        <p:nvSpPr>
          <p:cNvPr id="92" name="TextBox 91">
            <a:extLst>
              <a:ext uri="{FF2B5EF4-FFF2-40B4-BE49-F238E27FC236}">
                <a16:creationId xmlns:a16="http://schemas.microsoft.com/office/drawing/2014/main" id="{F9747574-27BB-06EC-EF68-968F358AFF19}"/>
              </a:ext>
            </a:extLst>
          </p:cNvPr>
          <p:cNvSpPr txBox="1"/>
          <p:nvPr/>
        </p:nvSpPr>
        <p:spPr>
          <a:xfrm>
            <a:off x="494878" y="2353640"/>
            <a:ext cx="2174589" cy="178447"/>
          </a:xfrm>
          <a:prstGeom prst="rect">
            <a:avLst/>
          </a:prstGeom>
          <a:noFill/>
        </p:spPr>
        <p:txBody>
          <a:bodyPr wrap="square">
            <a:spAutoFit/>
          </a:bodyPr>
          <a:lstStyle/>
          <a:p>
            <a:pPr algn="ctr">
              <a:lnSpc>
                <a:spcPts val="600"/>
              </a:lnSpc>
              <a:spcAft>
                <a:spcPts val="200"/>
              </a:spcAft>
            </a:pPr>
            <a:r>
              <a:rPr lang="en-US" sz="800" b="1" dirty="0">
                <a:solidFill>
                  <a:schemeClr val="tx1"/>
                </a:solidFill>
                <a:latin typeface="Aptos" panose="020B0004020202020204" pitchFamily="34" charset="0"/>
              </a:rPr>
              <a:t>LLM Sentiment Score for Upcoming Match</a:t>
            </a:r>
          </a:p>
        </p:txBody>
      </p:sp>
    </p:spTree>
    <p:extLst>
      <p:ext uri="{BB962C8B-B14F-4D97-AF65-F5344CB8AC3E}">
        <p14:creationId xmlns:p14="http://schemas.microsoft.com/office/powerpoint/2010/main" val="2779895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951d41b-6b8e-4636-984f-012bff14ba18}" enabled="1" method="Standar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otalTime>612</TotalTime>
  <Words>282</Words>
  <Application>Microsoft Office PowerPoint</Application>
  <PresentationFormat>Widescreen</PresentationFormat>
  <Paragraphs>38</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fkGroteskNeue</vt:lpstr>
      <vt:lpstr>Aptos</vt:lpstr>
      <vt:lpstr>Aptos Display</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Donghao Huang</dc:creator>
  <cp:lastModifiedBy>WANG Zhaoxia</cp:lastModifiedBy>
  <cp:revision>10</cp:revision>
  <dcterms:created xsi:type="dcterms:W3CDTF">2025-06-04T15:05:44Z</dcterms:created>
  <dcterms:modified xsi:type="dcterms:W3CDTF">2025-09-24T13:28:45Z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SMU Classification: Restricted</vt:lpwstr>
  </property>
</Properties>
</file>